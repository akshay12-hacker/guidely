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webp" ContentType="image/webp"/>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8" r:id="rId4"/>
    <p:sldId id="269" r:id="rId5"/>
    <p:sldId id="270" r:id="rId6"/>
    <p:sldId id="271" r:id="rId7"/>
    <p:sldId id="275" r:id="rId8"/>
    <p:sldId id="27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38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25"/>
        <p:guide pos="380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5" Type="http://schemas.openxmlformats.org/officeDocument/2006/relationships/slideLayout" Target="../slideLayouts/slideLayout1.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webp"/></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510155" y="1122680"/>
            <a:ext cx="6637020" cy="671195"/>
          </a:xfrm>
        </p:spPr>
        <p:txBody>
          <a:bodyPr/>
          <a:p>
            <a:r>
              <a:rPr u="sng">
                <a:solidFill>
                  <a:schemeClr val="accent2"/>
                </a:solidFill>
                <a:latin typeface="Times New Roman" panose="02020603050405020304" charset="0"/>
                <a:cs typeface="Times New Roman" panose="02020603050405020304" charset="0"/>
                <a:sym typeface="+mn-ea"/>
              </a:rPr>
              <a:t>GUIDELY</a:t>
            </a:r>
            <a:endParaRPr lang="en-GB" altLang="en-US" u="sng">
              <a:solidFill>
                <a:schemeClr val="accent2"/>
              </a:solidFill>
              <a:latin typeface="Times New Roman" panose="02020603050405020304" charset="0"/>
              <a:cs typeface="Times New Roman" panose="02020603050405020304" charset="0"/>
              <a:sym typeface="+mn-ea"/>
            </a:endParaRPr>
          </a:p>
        </p:txBody>
      </p:sp>
      <p:sp>
        <p:nvSpPr>
          <p:cNvPr id="3" name="Subtitle 2"/>
          <p:cNvSpPr>
            <a:spLocks noGrp="1"/>
          </p:cNvSpPr>
          <p:nvPr>
            <p:ph type="subTitle" idx="1"/>
          </p:nvPr>
        </p:nvSpPr>
        <p:spPr>
          <a:xfrm>
            <a:off x="1297940" y="1983105"/>
            <a:ext cx="9462135" cy="593090"/>
          </a:xfrm>
        </p:spPr>
        <p:txBody>
          <a:bodyPr/>
          <a:p>
            <a:r>
              <a:rPr lang="en-US">
                <a:latin typeface="Times New Roman" panose="02020603050405020304" charset="0"/>
                <a:cs typeface="Times New Roman" panose="02020603050405020304" charset="0"/>
                <a:sym typeface="+mn-ea"/>
              </a:rPr>
              <a:t>       </a:t>
            </a:r>
            <a:r>
              <a:rPr lang="en-US" sz="2400">
                <a:solidFill>
                  <a:srgbClr val="FF0000"/>
                </a:solidFill>
                <a:latin typeface="Times New Roman" panose="02020603050405020304" charset="0"/>
                <a:cs typeface="Times New Roman" panose="02020603050405020304" charset="0"/>
                <a:sym typeface="+mn-ea"/>
              </a:rPr>
              <a:t> </a:t>
            </a:r>
            <a:r>
              <a:rPr sz="2400" b="1">
                <a:solidFill>
                  <a:srgbClr val="C00000"/>
                </a:solidFill>
                <a:latin typeface="Times New Roman" panose="02020603050405020304" charset="0"/>
                <a:cs typeface="Times New Roman" panose="02020603050405020304" charset="0"/>
                <a:sym typeface="+mn-ea"/>
              </a:rPr>
              <a:t>E-learning &amp; Collaborative</a:t>
            </a:r>
            <a:r>
              <a:rPr lang="en-US" sz="2400" b="1">
                <a:solidFill>
                  <a:srgbClr val="C00000"/>
                </a:solidFill>
                <a:latin typeface="Times New Roman" panose="02020603050405020304" charset="0"/>
                <a:cs typeface="Times New Roman" panose="02020603050405020304" charset="0"/>
                <a:sym typeface="+mn-ea"/>
              </a:rPr>
              <a:t>  </a:t>
            </a:r>
            <a:r>
              <a:rPr sz="2400" b="1">
                <a:solidFill>
                  <a:srgbClr val="C00000"/>
                </a:solidFill>
                <a:latin typeface="Times New Roman" panose="02020603050405020304" charset="0"/>
                <a:cs typeface="Times New Roman" panose="02020603050405020304" charset="0"/>
                <a:sym typeface="+mn-ea"/>
              </a:rPr>
              <a:t>Project Mentorship Platform</a:t>
            </a:r>
            <a:endParaRPr lang="en-GB" altLang="en-US" sz="2400" b="1">
              <a:solidFill>
                <a:srgbClr val="C00000"/>
              </a:solidFill>
              <a:latin typeface="Times New Roman" panose="02020603050405020304" charset="0"/>
              <a:cs typeface="Times New Roman" panose="02020603050405020304" charset="0"/>
              <a:sym typeface="+mn-ea"/>
            </a:endParaRPr>
          </a:p>
        </p:txBody>
      </p:sp>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8" name="Text Box 7"/>
          <p:cNvSpPr txBox="1"/>
          <p:nvPr/>
        </p:nvSpPr>
        <p:spPr>
          <a:xfrm>
            <a:off x="934085" y="2894330"/>
            <a:ext cx="10499090" cy="535305"/>
          </a:xfrm>
          <a:prstGeom prst="rect">
            <a:avLst/>
          </a:prstGeom>
          <a:noFill/>
        </p:spPr>
        <p:txBody>
          <a:bodyPr wrap="square" rtlCol="0">
            <a:noAutofit/>
          </a:bodyPr>
          <a:p>
            <a:r>
              <a:rPr>
                <a:latin typeface="Times New Roman" panose="02020603050405020304" charset="0"/>
                <a:cs typeface="Times New Roman" panose="02020603050405020304" charset="0"/>
                <a:sym typeface="+mn-ea"/>
              </a:rPr>
              <a:t>A unified platform connecting students with mentors for project guidance, tracking and real-time</a:t>
            </a:r>
            <a:r>
              <a:rPr lang="en-US">
                <a:latin typeface="Times New Roman" panose="02020603050405020304" charset="0"/>
                <a:cs typeface="Times New Roman" panose="02020603050405020304" charset="0"/>
                <a:sym typeface="+mn-ea"/>
              </a:rPr>
              <a:t> </a:t>
            </a:r>
            <a:r>
              <a:rPr>
                <a:latin typeface="Times New Roman" panose="02020603050405020304" charset="0"/>
                <a:cs typeface="Times New Roman" panose="02020603050405020304" charset="0"/>
                <a:sym typeface="+mn-ea"/>
              </a:rPr>
              <a:t>collaboration.</a:t>
            </a:r>
            <a:endParaRPr>
              <a:latin typeface="Times New Roman" panose="02020603050405020304" charset="0"/>
              <a:cs typeface="Times New Roman" panose="02020603050405020304" charset="0"/>
              <a:sym typeface="+mn-ea"/>
            </a:endParaRPr>
          </a:p>
          <a:p>
            <a:endParaRPr lang="en-GB" altLang="en-US">
              <a:latin typeface="Times New Roman" panose="02020603050405020304" charset="0"/>
              <a:cs typeface="Times New Roman" panose="02020603050405020304" charset="0"/>
              <a:sym typeface="+mn-ea"/>
            </a:endParaRPr>
          </a:p>
        </p:txBody>
      </p:sp>
      <p:sp>
        <p:nvSpPr>
          <p:cNvPr id="9" name="Text Box 8"/>
          <p:cNvSpPr txBox="1"/>
          <p:nvPr/>
        </p:nvSpPr>
        <p:spPr>
          <a:xfrm>
            <a:off x="934085" y="4052570"/>
            <a:ext cx="4270375" cy="1841500"/>
          </a:xfrm>
          <a:prstGeom prst="rect">
            <a:avLst/>
          </a:prstGeom>
          <a:noFill/>
        </p:spPr>
        <p:txBody>
          <a:bodyPr wrap="square" rtlCol="0">
            <a:noAutofit/>
          </a:bodyPr>
          <a:p>
            <a:pPr algn="l" defTabSz="457200">
              <a:defRPr sz="1300" b="1">
                <a:solidFill>
                  <a:srgbClr val="41B4D2"/>
                </a:solidFill>
              </a:defRPr>
            </a:pPr>
            <a:r>
              <a:rPr sz="2000">
                <a:solidFill>
                  <a:sysClr val="windowText" lastClr="000000"/>
                </a:solidFill>
                <a:latin typeface="Times New Roman" panose="02020603050405020304" charset="0"/>
                <a:ea typeface="+mn-ea"/>
                <a:cs typeface="Times New Roman" panose="02020603050405020304" charset="0"/>
                <a:sym typeface="+mn-ea"/>
              </a:rPr>
              <a:t>Team</a:t>
            </a:r>
            <a:endParaRPr sz="2000">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300" b="1">
                <a:solidFill>
                  <a:srgbClr val="41B4D2"/>
                </a:solidFill>
              </a:defRPr>
            </a:pPr>
            <a:endParaRPr>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200">
                <a:solidFill>
                  <a:srgbClr val="FFFFFF"/>
                </a:solidFill>
              </a:defRPr>
            </a:pPr>
            <a:r>
              <a:rPr sz="1800">
                <a:solidFill>
                  <a:sysClr val="windowText" lastClr="000000"/>
                </a:solidFill>
                <a:latin typeface="Times New Roman" panose="02020603050405020304" charset="0"/>
                <a:ea typeface="+mn-ea"/>
                <a:cs typeface="Times New Roman" panose="02020603050405020304" charset="0"/>
                <a:sym typeface="+mn-ea"/>
              </a:rPr>
              <a:t>Akshay Ramkishor Rahangdale </a:t>
            </a:r>
            <a:endParaRPr sz="1800">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200">
                <a:solidFill>
                  <a:srgbClr val="FFFFFF"/>
                </a:solidFill>
              </a:defRPr>
            </a:pPr>
            <a:r>
              <a:rPr sz="1800">
                <a:solidFill>
                  <a:sysClr val="windowText" lastClr="000000"/>
                </a:solidFill>
                <a:latin typeface="Times New Roman" panose="02020603050405020304" charset="0"/>
                <a:ea typeface="+mn-ea"/>
                <a:cs typeface="Times New Roman" panose="02020603050405020304" charset="0"/>
                <a:sym typeface="+mn-ea"/>
              </a:rPr>
              <a:t>Abhimanyu Kumar Sahu  </a:t>
            </a:r>
            <a:endParaRPr sz="1800">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200">
                <a:solidFill>
                  <a:srgbClr val="FFFFFF"/>
                </a:solidFill>
              </a:defRPr>
            </a:pPr>
            <a:r>
              <a:rPr sz="1800">
                <a:solidFill>
                  <a:sysClr val="windowText" lastClr="000000"/>
                </a:solidFill>
                <a:latin typeface="Times New Roman" panose="02020603050405020304" charset="0"/>
                <a:ea typeface="+mn-ea"/>
                <a:cs typeface="Times New Roman" panose="02020603050405020304" charset="0"/>
                <a:sym typeface="+mn-ea"/>
              </a:rPr>
              <a:t>Sapna Jaiswal</a:t>
            </a:r>
            <a:endParaRPr sz="1800">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200">
                <a:solidFill>
                  <a:srgbClr val="FFFFFF"/>
                </a:solidFill>
              </a:defRPr>
            </a:pPr>
            <a:endParaRPr sz="1800">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200">
                <a:solidFill>
                  <a:srgbClr val="FFFFFF"/>
                </a:solidFill>
              </a:defRPr>
            </a:pPr>
            <a:endParaRPr>
              <a:solidFill>
                <a:sysClr val="windowText" lastClr="000000"/>
              </a:solidFill>
              <a:latin typeface="Times New Roman" panose="02020603050405020304" charset="0"/>
              <a:ea typeface="+mn-ea"/>
              <a:cs typeface="Times New Roman" panose="02020603050405020304" charset="0"/>
              <a:sym typeface="+mn-ea"/>
            </a:endParaRPr>
          </a:p>
          <a:p>
            <a:pPr algn="l" defTabSz="457200">
              <a:defRPr sz="1200">
                <a:solidFill>
                  <a:srgbClr val="FFFFFF"/>
                </a:solidFill>
              </a:defRPr>
            </a:pPr>
            <a:r>
              <a:rPr>
                <a:solidFill>
                  <a:sysClr val="windowText" lastClr="000000"/>
                </a:solidFill>
                <a:latin typeface="Times New Roman" panose="02020603050405020304" charset="0"/>
                <a:ea typeface="+mn-ea"/>
                <a:cs typeface="Times New Roman" panose="02020603050405020304" charset="0"/>
                <a:sym typeface="+mn-ea"/>
              </a:rPr>
              <a:t> </a:t>
            </a:r>
            <a:endParaRPr lang="en-GB" altLang="en-US">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6" name="Text Box 5"/>
          <p:cNvSpPr txBox="1"/>
          <p:nvPr/>
        </p:nvSpPr>
        <p:spPr>
          <a:xfrm>
            <a:off x="857885" y="559435"/>
            <a:ext cx="6664325" cy="772795"/>
          </a:xfrm>
          <a:prstGeom prst="rect">
            <a:avLst/>
          </a:prstGeom>
          <a:noFill/>
        </p:spPr>
        <p:txBody>
          <a:bodyPr wrap="square" rtlCol="0">
            <a:noAutofit/>
          </a:bodyPr>
          <a:p>
            <a:r>
              <a:rPr sz="2800" b="1" u="sng">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rPr>
              <a:t>Problem Statement &amp; Objectives</a:t>
            </a:r>
            <a:endParaRPr sz="2800" b="1" u="sng">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endParaRPr>
          </a:p>
          <a:p>
            <a:r>
              <a:rPr sz="1200">
                <a:latin typeface="Times New Roman" panose="02020603050405020304" charset="0"/>
                <a:cs typeface="Times New Roman" panose="02020603050405020304" charset="0"/>
                <a:sym typeface="+mn-ea"/>
              </a:rPr>
              <a:t>Why Guidely is needed and what the platform aims to achieve</a:t>
            </a:r>
            <a:endParaRPr sz="1200">
              <a:latin typeface="Times New Roman" panose="02020603050405020304" charset="0"/>
              <a:cs typeface="Times New Roman" panose="02020603050405020304" charset="0"/>
              <a:sym typeface="+mn-ea"/>
            </a:endParaRPr>
          </a:p>
          <a:p>
            <a:endParaRPr lang="en-GB" altLang="en-US" sz="1200" b="1" u="sng">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endParaRPr>
          </a:p>
        </p:txBody>
      </p:sp>
      <p:sp>
        <p:nvSpPr>
          <p:cNvPr id="10" name="Rectangles 9"/>
          <p:cNvSpPr/>
          <p:nvPr/>
        </p:nvSpPr>
        <p:spPr>
          <a:xfrm>
            <a:off x="857885" y="1459865"/>
            <a:ext cx="4892040" cy="4669155"/>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11" name="Rectangles 10"/>
          <p:cNvSpPr/>
          <p:nvPr/>
        </p:nvSpPr>
        <p:spPr>
          <a:xfrm>
            <a:off x="6068695" y="1459865"/>
            <a:ext cx="5296535" cy="4647565"/>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12" name="Text Box 11"/>
          <p:cNvSpPr txBox="1"/>
          <p:nvPr/>
        </p:nvSpPr>
        <p:spPr>
          <a:xfrm>
            <a:off x="1060450" y="1746885"/>
            <a:ext cx="4487545" cy="4144645"/>
          </a:xfrm>
          <a:prstGeom prst="rect">
            <a:avLst/>
          </a:prstGeom>
          <a:noFill/>
        </p:spPr>
        <p:txBody>
          <a:bodyPr wrap="square" rtlCol="0">
            <a:noAutofit/>
          </a:bodyPr>
          <a:p>
            <a:r>
              <a:rPr lang="en-US" altLang="en-GB" u="sng">
                <a:latin typeface="Times New Roman" panose="02020603050405020304" charset="0"/>
                <a:cs typeface="Times New Roman" panose="02020603050405020304" charset="0"/>
              </a:rPr>
              <a:t>PROBLEM STATEMENT</a:t>
            </a:r>
            <a:endParaRPr lang="en-US" altLang="en-GB" u="sng">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Students use different apps for chats, meetings, and project tracking.</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They do not get continuous guidance from mentors.</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It is difficult to track project progress and milestones.</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LMS platforms mainly focus on courses, not project mentorship.</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Mentors have limited visibility into students' progress.</a:t>
            </a:r>
            <a:endParaRPr lang="en-US" altLang="en-GB" sz="1600">
              <a:latin typeface="Times New Roman" panose="02020603050405020304" charset="0"/>
              <a:cs typeface="Times New Roman" panose="02020603050405020304" charset="0"/>
            </a:endParaRPr>
          </a:p>
        </p:txBody>
      </p:sp>
      <p:sp>
        <p:nvSpPr>
          <p:cNvPr id="13" name="Text Box 12"/>
          <p:cNvSpPr txBox="1"/>
          <p:nvPr/>
        </p:nvSpPr>
        <p:spPr>
          <a:xfrm>
            <a:off x="6250305" y="1746885"/>
            <a:ext cx="4933315" cy="4144645"/>
          </a:xfrm>
          <a:prstGeom prst="rect">
            <a:avLst/>
          </a:prstGeom>
          <a:noFill/>
        </p:spPr>
        <p:txBody>
          <a:bodyPr wrap="square" rtlCol="0">
            <a:noAutofit/>
          </a:bodyPr>
          <a:p>
            <a:pPr fontAlgn="t"/>
            <a:r>
              <a:rPr lang="en-US" altLang="en-GB" u="sng">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rPr>
              <a:t>OBJECTIVE</a:t>
            </a:r>
            <a:endParaRPr lang="en-GB" altLang="en-US" u="sng">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endParaRPr>
          </a:p>
          <a:p>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 Provide separate and secure access for Students, Mentors, and Admins.</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 Help students find suitable mentors based on their skills, experience, field, and ratings.</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Create a project workspace where students can set goals, milestones, and tasks.</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Allow students and mentors to communicate through real-time chat and 1-on-1 video meetings.</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1600">
                <a:latin typeface="Times New Roman" panose="02020603050405020304" charset="0"/>
                <a:cs typeface="Times New Roman" panose="02020603050405020304" charset="0"/>
              </a:rPr>
              <a:t> Allow Admins to verify mentors, manage the platform, and check overall platform activity.</a:t>
            </a:r>
            <a:endParaRPr lang="en-US" altLang="en-GB"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2" name="Text Box 1"/>
          <p:cNvSpPr txBox="1"/>
          <p:nvPr/>
        </p:nvSpPr>
        <p:spPr>
          <a:xfrm>
            <a:off x="688975" y="452120"/>
            <a:ext cx="10132695" cy="721360"/>
          </a:xfrm>
          <a:prstGeom prst="rect">
            <a:avLst/>
          </a:prstGeom>
          <a:noFill/>
        </p:spPr>
        <p:txBody>
          <a:bodyPr wrap="square" rtlCol="0">
            <a:noAutofit/>
          </a:bodyPr>
          <a:p>
            <a:r>
              <a:rPr sz="2800" b="1" u="sng">
                <a:latin typeface="Times New Roman" panose="02020603050405020304" charset="0"/>
                <a:cs typeface="Times New Roman" panose="02020603050405020304" charset="0"/>
                <a:sym typeface="+mn-ea"/>
              </a:rPr>
              <a:t>Proposed Solution &amp; Key Features</a:t>
            </a:r>
            <a:endParaRPr sz="2800" b="1" u="sng">
              <a:latin typeface="Times New Roman" panose="02020603050405020304" charset="0"/>
              <a:cs typeface="Times New Roman" panose="02020603050405020304" charset="0"/>
              <a:sym typeface="+mn-ea"/>
            </a:endParaRPr>
          </a:p>
          <a:p>
            <a:r>
              <a:rPr sz="1200">
                <a:latin typeface="Times New Roman" panose="02020603050405020304" charset="0"/>
                <a:cs typeface="Times New Roman" panose="02020603050405020304" charset="0"/>
                <a:sym typeface="+mn-ea"/>
              </a:rPr>
              <a:t>One platform for the complete student–mentor project lifecycle</a:t>
            </a:r>
            <a:endParaRPr sz="1200">
              <a:latin typeface="Times New Roman" panose="02020603050405020304" charset="0"/>
              <a:cs typeface="Times New Roman" panose="02020603050405020304" charset="0"/>
              <a:sym typeface="+mn-ea"/>
            </a:endParaRPr>
          </a:p>
          <a:p>
            <a:endParaRPr lang="en-GB" altLang="en-US" sz="1200" b="1" u="sng">
              <a:latin typeface="Times New Roman" panose="02020603050405020304" charset="0"/>
              <a:cs typeface="Times New Roman" panose="02020603050405020304" charset="0"/>
              <a:sym typeface="+mn-ea"/>
            </a:endParaRPr>
          </a:p>
        </p:txBody>
      </p:sp>
      <p:sp>
        <p:nvSpPr>
          <p:cNvPr id="3" name="Rectangles 2"/>
          <p:cNvSpPr/>
          <p:nvPr/>
        </p:nvSpPr>
        <p:spPr>
          <a:xfrm>
            <a:off x="688975" y="1322070"/>
            <a:ext cx="10789920" cy="482854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5" name="Rectangles 4"/>
          <p:cNvSpPr/>
          <p:nvPr/>
        </p:nvSpPr>
        <p:spPr>
          <a:xfrm>
            <a:off x="1017905" y="1524000"/>
            <a:ext cx="3155315" cy="194183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6" name="Rectangles 5"/>
          <p:cNvSpPr/>
          <p:nvPr/>
        </p:nvSpPr>
        <p:spPr>
          <a:xfrm>
            <a:off x="4545330" y="1524000"/>
            <a:ext cx="3039745" cy="1899285"/>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8" name="Rectangles 7"/>
          <p:cNvSpPr/>
          <p:nvPr/>
        </p:nvSpPr>
        <p:spPr>
          <a:xfrm>
            <a:off x="7957185" y="1524000"/>
            <a:ext cx="3224530" cy="189865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9" name="Rectangles 8"/>
          <p:cNvSpPr/>
          <p:nvPr/>
        </p:nvSpPr>
        <p:spPr>
          <a:xfrm>
            <a:off x="1017270" y="3901440"/>
            <a:ext cx="3155950" cy="1941195"/>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10" name="Rectangles 9"/>
          <p:cNvSpPr/>
          <p:nvPr/>
        </p:nvSpPr>
        <p:spPr>
          <a:xfrm>
            <a:off x="4545965" y="3900805"/>
            <a:ext cx="3044190" cy="194183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11" name="Rectangles 10"/>
          <p:cNvSpPr/>
          <p:nvPr/>
        </p:nvSpPr>
        <p:spPr>
          <a:xfrm>
            <a:off x="7957185" y="3900805"/>
            <a:ext cx="3225800" cy="194183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latin typeface="Times New Roman" panose="02020603050405020304" charset="0"/>
              <a:cs typeface="Times New Roman" panose="02020603050405020304" charset="0"/>
            </a:endParaRPr>
          </a:p>
        </p:txBody>
      </p:sp>
      <p:sp>
        <p:nvSpPr>
          <p:cNvPr id="14" name="Text Box 13"/>
          <p:cNvSpPr txBox="1"/>
          <p:nvPr/>
        </p:nvSpPr>
        <p:spPr>
          <a:xfrm>
            <a:off x="1209675" y="1651000"/>
            <a:ext cx="2429510" cy="1547495"/>
          </a:xfrm>
          <a:prstGeom prst="rect">
            <a:avLst/>
          </a:prstGeom>
          <a:noFill/>
        </p:spPr>
        <p:txBody>
          <a:bodyPr wrap="square" rtlCol="0">
            <a:noAutofit/>
          </a:bodyPr>
          <a:p>
            <a:pPr indent="0" algn="l">
              <a:buFont typeface="Arial" panose="020B0604020202020204" pitchFamily="34" charset="0"/>
              <a:buNone/>
              <a:defRPr sz="1400" b="1">
                <a:solidFill>
                  <a:srgbClr val="142037"/>
                </a:solidFill>
              </a:defRPr>
            </a:pPr>
            <a:r>
              <a:rPr lang="en-US" sz="1800">
                <a:latin typeface="Times New Roman" panose="02020603050405020304" charset="0"/>
                <a:cs typeface="Times New Roman" panose="02020603050405020304" charset="0"/>
                <a:sym typeface="+mn-ea"/>
              </a:rPr>
              <a:t>M</a:t>
            </a:r>
            <a:r>
              <a:rPr sz="1800">
                <a:latin typeface="Times New Roman" panose="02020603050405020304" charset="0"/>
                <a:cs typeface="Times New Roman" panose="02020603050405020304" charset="0"/>
                <a:sym typeface="+mn-ea"/>
              </a:rPr>
              <a:t>entor Discovery</a:t>
            </a:r>
            <a:r>
              <a:rPr lang="en-US" sz="1800">
                <a:latin typeface="Times New Roman" panose="02020603050405020304" charset="0"/>
                <a:cs typeface="Times New Roman" panose="02020603050405020304" charset="0"/>
                <a:sym typeface="+mn-ea"/>
              </a:rPr>
              <a:t> </a:t>
            </a:r>
            <a:endParaRPr sz="1800" u="sng">
              <a:latin typeface="Times New Roman" panose="02020603050405020304" charset="0"/>
              <a:cs typeface="Times New Roman" panose="02020603050405020304" charset="0"/>
              <a:sym typeface="+mn-ea"/>
            </a:endParaRPr>
          </a:p>
          <a:p>
            <a:pPr algn="ctr">
              <a:defRPr sz="1400" b="1">
                <a:solidFill>
                  <a:srgbClr val="142037"/>
                </a:solidFill>
              </a:defRPr>
            </a:pPr>
            <a:endParaRPr sz="1800">
              <a:latin typeface="Times New Roman" panose="02020603050405020304" charset="0"/>
              <a:cs typeface="Times New Roman" panose="02020603050405020304" charset="0"/>
              <a:sym typeface="+mn-ea"/>
            </a:endParaRPr>
          </a:p>
          <a:p>
            <a:pPr>
              <a:spcBef>
                <a:spcPts val="400"/>
              </a:spcBef>
              <a:defRPr sz="1050">
                <a:solidFill>
                  <a:srgbClr val="697485"/>
                </a:solidFill>
              </a:defRPr>
            </a:pPr>
            <a:r>
              <a:rPr sz="16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Filter mentors by skills, domain, experience and verified ratings</a:t>
            </a:r>
            <a:r>
              <a:rPr sz="18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a:t>
            </a:r>
            <a:endParaRPr lang="en-GB" altLang="en-US" sz="18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endParaRPr>
          </a:p>
        </p:txBody>
      </p:sp>
      <p:sp>
        <p:nvSpPr>
          <p:cNvPr id="15" name="Text Box 14"/>
          <p:cNvSpPr txBox="1"/>
          <p:nvPr/>
        </p:nvSpPr>
        <p:spPr>
          <a:xfrm>
            <a:off x="4688840" y="1671955"/>
            <a:ext cx="2760980" cy="1645285"/>
          </a:xfrm>
          <a:prstGeom prst="rect">
            <a:avLst/>
          </a:prstGeom>
          <a:noFill/>
        </p:spPr>
        <p:txBody>
          <a:bodyPr wrap="square" rtlCol="0">
            <a:noAutofit/>
          </a:bodyPr>
          <a:p>
            <a:pPr algn="l">
              <a:defRPr sz="1400" b="1">
                <a:solidFill>
                  <a:srgbClr val="142037"/>
                </a:solidFill>
              </a:defRPr>
            </a:pPr>
            <a:r>
              <a:rPr sz="1800">
                <a:latin typeface="Times New Roman" panose="02020603050405020304" charset="0"/>
                <a:cs typeface="Times New Roman" panose="02020603050405020304" charset="0"/>
                <a:sym typeface="+mn-ea"/>
              </a:rPr>
              <a:t>Mentorship Requests</a:t>
            </a:r>
            <a:endParaRPr sz="1800">
              <a:latin typeface="Times New Roman" panose="02020603050405020304" charset="0"/>
              <a:cs typeface="Times New Roman" panose="02020603050405020304" charset="0"/>
              <a:sym typeface="+mn-ea"/>
            </a:endParaRPr>
          </a:p>
          <a:p>
            <a:pPr algn="l">
              <a:defRPr sz="1400" b="1">
                <a:solidFill>
                  <a:srgbClr val="142037"/>
                </a:solidFill>
              </a:defRPr>
            </a:pPr>
            <a:endParaRPr sz="1800">
              <a:latin typeface="Times New Roman" panose="02020603050405020304" charset="0"/>
              <a:cs typeface="Times New Roman" panose="02020603050405020304" charset="0"/>
              <a:sym typeface="+mn-ea"/>
            </a:endParaRPr>
          </a:p>
          <a:p>
            <a:pPr algn="l">
              <a:spcBef>
                <a:spcPts val="400"/>
              </a:spcBef>
              <a:defRPr sz="1050">
                <a:solidFill>
                  <a:srgbClr val="697485"/>
                </a:solidFill>
              </a:defRPr>
            </a:pPr>
            <a:r>
              <a:rPr sz="16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Student sends a project proposal; mentor can accept or reject.</a:t>
            </a:r>
            <a:endParaRPr sz="16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endParaRPr>
          </a:p>
          <a:p>
            <a:pPr algn="l"/>
            <a:endParaRPr lang="en-GB" altLang="en-US" sz="1600">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endParaRPr>
          </a:p>
        </p:txBody>
      </p:sp>
      <p:sp>
        <p:nvSpPr>
          <p:cNvPr id="16" name="Text Box 15"/>
          <p:cNvSpPr txBox="1"/>
          <p:nvPr/>
        </p:nvSpPr>
        <p:spPr>
          <a:xfrm>
            <a:off x="8074025" y="1671955"/>
            <a:ext cx="2923540" cy="1520825"/>
          </a:xfrm>
          <a:prstGeom prst="rect">
            <a:avLst/>
          </a:prstGeom>
          <a:noFill/>
        </p:spPr>
        <p:txBody>
          <a:bodyPr wrap="square" rtlCol="0">
            <a:noAutofit/>
          </a:bodyPr>
          <a:p>
            <a:pPr algn="l">
              <a:defRPr sz="1400" b="1">
                <a:solidFill>
                  <a:srgbClr val="142037"/>
                </a:solidFill>
              </a:defRPr>
            </a:pPr>
            <a:r>
              <a:rPr sz="1800">
                <a:latin typeface="Times New Roman" panose="02020603050405020304" charset="0"/>
                <a:cs typeface="Times New Roman" panose="02020603050405020304" charset="0"/>
                <a:sym typeface="+mn-ea"/>
              </a:rPr>
              <a:t>Project Workspace</a:t>
            </a:r>
            <a:endParaRPr sz="1800">
              <a:latin typeface="Times New Roman" panose="02020603050405020304" charset="0"/>
              <a:cs typeface="Times New Roman" panose="02020603050405020304" charset="0"/>
              <a:sym typeface="+mn-ea"/>
            </a:endParaRPr>
          </a:p>
          <a:p>
            <a:pPr algn="l">
              <a:defRPr sz="1400" b="1">
                <a:solidFill>
                  <a:srgbClr val="142037"/>
                </a:solidFill>
              </a:defRPr>
            </a:pPr>
            <a:endParaRPr sz="1800">
              <a:latin typeface="Times New Roman" panose="02020603050405020304" charset="0"/>
              <a:cs typeface="Times New Roman" panose="02020603050405020304" charset="0"/>
              <a:sym typeface="+mn-ea"/>
            </a:endParaRPr>
          </a:p>
          <a:p>
            <a:pPr algn="l">
              <a:spcBef>
                <a:spcPts val="400"/>
              </a:spcBef>
              <a:defRPr sz="1050">
                <a:solidFill>
                  <a:srgbClr val="697485"/>
                </a:solidFill>
              </a:defRPr>
            </a:pPr>
            <a:r>
              <a:rPr lang="en-US" altLang="en-GB" sz="1600">
                <a:solidFill>
                  <a:schemeClr val="tx1"/>
                </a:solidFill>
                <a:latin typeface="Times New Roman" panose="02020603050405020304" charset="0"/>
                <a:cs typeface="Times New Roman" panose="02020603050405020304" charset="0"/>
              </a:rPr>
              <a:t>Set goals, divide the project into small tasks, organize tasks, and track progress automatically.</a:t>
            </a:r>
            <a:endParaRPr lang="en-US" altLang="en-GB" sz="1600">
              <a:solidFill>
                <a:schemeClr val="tx1"/>
              </a:solidFill>
              <a:latin typeface="Times New Roman" panose="02020603050405020304" charset="0"/>
              <a:cs typeface="Times New Roman" panose="02020603050405020304" charset="0"/>
            </a:endParaRPr>
          </a:p>
        </p:txBody>
      </p:sp>
      <p:sp>
        <p:nvSpPr>
          <p:cNvPr id="17" name="Text Box 16"/>
          <p:cNvSpPr txBox="1"/>
          <p:nvPr/>
        </p:nvSpPr>
        <p:spPr>
          <a:xfrm>
            <a:off x="1183005" y="4080510"/>
            <a:ext cx="2647950" cy="1552575"/>
          </a:xfrm>
          <a:prstGeom prst="rect">
            <a:avLst/>
          </a:prstGeom>
          <a:noFill/>
        </p:spPr>
        <p:txBody>
          <a:bodyPr wrap="square" rtlCol="0">
            <a:noAutofit/>
          </a:bodyPr>
          <a:p>
            <a:pPr algn="l">
              <a:defRPr sz="1400" b="1">
                <a:solidFill>
                  <a:srgbClr val="142037"/>
                </a:solidFill>
              </a:defRPr>
            </a:pPr>
            <a:r>
              <a:rPr sz="1800">
                <a:latin typeface="Times New Roman" panose="02020603050405020304" charset="0"/>
                <a:cs typeface="Times New Roman" panose="02020603050405020304" charset="0"/>
                <a:sym typeface="+mn-ea"/>
              </a:rPr>
              <a:t>Real-Time Chat</a:t>
            </a:r>
            <a:endParaRPr sz="1800">
              <a:latin typeface="Times New Roman" panose="02020603050405020304" charset="0"/>
              <a:cs typeface="Times New Roman" panose="02020603050405020304" charset="0"/>
              <a:sym typeface="+mn-ea"/>
            </a:endParaRPr>
          </a:p>
          <a:p>
            <a:pPr algn="l">
              <a:defRPr sz="1400" b="1">
                <a:solidFill>
                  <a:srgbClr val="142037"/>
                </a:solidFill>
              </a:defRPr>
            </a:pPr>
            <a:endParaRPr sz="1800">
              <a:latin typeface="Times New Roman" panose="02020603050405020304" charset="0"/>
              <a:cs typeface="Times New Roman" panose="02020603050405020304" charset="0"/>
              <a:sym typeface="+mn-ea"/>
            </a:endParaRPr>
          </a:p>
          <a:p>
            <a:pPr algn="l">
              <a:spcBef>
                <a:spcPts val="400"/>
              </a:spcBef>
              <a:defRPr sz="1050">
                <a:solidFill>
                  <a:srgbClr val="697485"/>
                </a:solidFill>
              </a:defRPr>
            </a:pPr>
            <a:r>
              <a:rPr lang="en-US" altLang="en-GB" sz="1600">
                <a:solidFill>
                  <a:schemeClr val="tx1"/>
                </a:solidFill>
                <a:latin typeface="Times New Roman" panose="02020603050405020304" charset="0"/>
                <a:cs typeface="Times New Roman" panose="02020603050405020304" charset="0"/>
              </a:rPr>
              <a:t>Instant messaging with unread message notifications.</a:t>
            </a:r>
            <a:endParaRPr lang="en-US" altLang="en-GB" sz="1600">
              <a:solidFill>
                <a:schemeClr val="tx1"/>
              </a:solidFill>
              <a:latin typeface="Times New Roman" panose="02020603050405020304" charset="0"/>
              <a:cs typeface="Times New Roman" panose="02020603050405020304" charset="0"/>
            </a:endParaRPr>
          </a:p>
        </p:txBody>
      </p:sp>
      <p:sp>
        <p:nvSpPr>
          <p:cNvPr id="18" name="Text Box 17"/>
          <p:cNvSpPr txBox="1"/>
          <p:nvPr/>
        </p:nvSpPr>
        <p:spPr>
          <a:xfrm>
            <a:off x="4689475" y="4080510"/>
            <a:ext cx="2744470" cy="1643380"/>
          </a:xfrm>
          <a:prstGeom prst="rect">
            <a:avLst/>
          </a:prstGeom>
          <a:noFill/>
        </p:spPr>
        <p:txBody>
          <a:bodyPr wrap="square" rtlCol="0">
            <a:noAutofit/>
          </a:bodyPr>
          <a:p>
            <a:pPr algn="l">
              <a:defRPr sz="1400" b="1">
                <a:solidFill>
                  <a:srgbClr val="142037"/>
                </a:solidFill>
              </a:defRPr>
            </a:pPr>
            <a:r>
              <a:rPr sz="1800">
                <a:latin typeface="Times New Roman" panose="02020603050405020304" charset="0"/>
                <a:cs typeface="Times New Roman" panose="02020603050405020304" charset="0"/>
                <a:sym typeface="+mn-ea"/>
              </a:rPr>
              <a:t>Video Sessions</a:t>
            </a:r>
            <a:endParaRPr sz="1800">
              <a:latin typeface="Times New Roman" panose="02020603050405020304" charset="0"/>
              <a:cs typeface="Times New Roman" panose="02020603050405020304" charset="0"/>
              <a:sym typeface="+mn-ea"/>
            </a:endParaRPr>
          </a:p>
          <a:p>
            <a:pPr algn="l">
              <a:defRPr sz="1400" b="1">
                <a:solidFill>
                  <a:srgbClr val="142037"/>
                </a:solidFill>
              </a:defRPr>
            </a:pPr>
            <a:endParaRPr sz="1800">
              <a:latin typeface="Times New Roman" panose="02020603050405020304" charset="0"/>
              <a:cs typeface="Times New Roman" panose="02020603050405020304" charset="0"/>
              <a:sym typeface="+mn-ea"/>
            </a:endParaRPr>
          </a:p>
          <a:p>
            <a:pPr algn="l">
              <a:spcBef>
                <a:spcPts val="400"/>
              </a:spcBef>
              <a:defRPr sz="1050">
                <a:solidFill>
                  <a:srgbClr val="697485"/>
                </a:solidFill>
              </a:defRPr>
            </a:pPr>
            <a:r>
              <a:rPr lang="en-US" altLang="en-GB" sz="1600">
                <a:solidFill>
                  <a:schemeClr val="tx1"/>
                </a:solidFill>
                <a:latin typeface="Times New Roman" panose="02020603050405020304" charset="0"/>
                <a:cs typeface="Times New Roman" panose="02020603050405020304" charset="0"/>
              </a:rPr>
              <a:t>Schedule and join 1-on-1 mentor-student meetings.</a:t>
            </a:r>
            <a:endParaRPr lang="en-US" altLang="en-GB" sz="1600">
              <a:solidFill>
                <a:schemeClr val="tx1"/>
              </a:solidFill>
              <a:latin typeface="Times New Roman" panose="02020603050405020304" charset="0"/>
              <a:cs typeface="Times New Roman" panose="02020603050405020304" charset="0"/>
            </a:endParaRPr>
          </a:p>
        </p:txBody>
      </p:sp>
      <p:sp>
        <p:nvSpPr>
          <p:cNvPr id="19" name="Text Box 18"/>
          <p:cNvSpPr txBox="1"/>
          <p:nvPr/>
        </p:nvSpPr>
        <p:spPr>
          <a:xfrm>
            <a:off x="8244205" y="4080510"/>
            <a:ext cx="2786380" cy="1642745"/>
          </a:xfrm>
          <a:prstGeom prst="rect">
            <a:avLst/>
          </a:prstGeom>
          <a:noFill/>
        </p:spPr>
        <p:txBody>
          <a:bodyPr wrap="square" rtlCol="0">
            <a:noAutofit/>
          </a:bodyPr>
          <a:p>
            <a:pPr algn="l">
              <a:defRPr sz="1400" b="1">
                <a:solidFill>
                  <a:srgbClr val="142037"/>
                </a:solidFill>
              </a:defRPr>
            </a:pPr>
            <a:r>
              <a:rPr sz="1800">
                <a:latin typeface="Times New Roman" panose="02020603050405020304" charset="0"/>
                <a:cs typeface="Times New Roman" panose="02020603050405020304" charset="0"/>
                <a:sym typeface="+mn-ea"/>
              </a:rPr>
              <a:t>Admin Governance</a:t>
            </a:r>
            <a:endParaRPr sz="1800">
              <a:latin typeface="Times New Roman" panose="02020603050405020304" charset="0"/>
              <a:cs typeface="Times New Roman" panose="02020603050405020304" charset="0"/>
              <a:sym typeface="+mn-ea"/>
            </a:endParaRPr>
          </a:p>
          <a:p>
            <a:pPr algn="l">
              <a:defRPr sz="1400" b="1">
                <a:solidFill>
                  <a:srgbClr val="142037"/>
                </a:solidFill>
              </a:defRPr>
            </a:pPr>
            <a:endParaRPr sz="1800">
              <a:latin typeface="Times New Roman" panose="02020603050405020304" charset="0"/>
              <a:cs typeface="Times New Roman" panose="02020603050405020304" charset="0"/>
              <a:sym typeface="+mn-ea"/>
            </a:endParaRPr>
          </a:p>
          <a:p>
            <a:pPr algn="l">
              <a:spcBef>
                <a:spcPts val="400"/>
              </a:spcBef>
              <a:defRPr sz="1050">
                <a:solidFill>
                  <a:srgbClr val="697485"/>
                </a:solidFill>
              </a:defRPr>
            </a:pPr>
            <a:r>
              <a:rPr lang="en-US" altLang="en-GB" sz="1600">
                <a:solidFill>
                  <a:schemeClr val="tx1"/>
                </a:solidFill>
                <a:latin typeface="Times New Roman" panose="02020603050405020304" charset="0"/>
                <a:cs typeface="Times New Roman" panose="02020603050405020304" charset="0"/>
              </a:rPr>
              <a:t>Mentor verification, user management, performance tracking, and platform activity monitoring</a:t>
            </a:r>
            <a:r>
              <a:rPr lang="en-US" altLang="en-GB">
                <a:solidFill>
                  <a:schemeClr val="tx1"/>
                </a:solidFill>
                <a:latin typeface="Times New Roman" panose="02020603050405020304" charset="0"/>
                <a:cs typeface="Times New Roman" panose="02020603050405020304" charset="0"/>
              </a:rPr>
              <a:t>.</a:t>
            </a:r>
            <a:endParaRPr lang="en-US" altLang="en-GB">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p>
        </p:txBody>
      </p:sp>
      <p:sp>
        <p:nvSpPr>
          <p:cNvPr id="9" name="TextBox 2"/>
          <p:cNvSpPr txBox="1"/>
          <p:nvPr/>
        </p:nvSpPr>
        <p:spPr>
          <a:xfrm>
            <a:off x="707390" y="507365"/>
            <a:ext cx="10972800" cy="675640"/>
          </a:xfrm>
          <a:prstGeom prst="rect">
            <a:avLst/>
          </a:prstGeom>
          <a:noFill/>
        </p:spPr>
        <p:txBody>
          <a:bodyPr wrap="none">
            <a:noAutofit/>
          </a:bodyPr>
          <a:lstStyle/>
          <a:p>
            <a:pPr>
              <a:defRPr sz="2800" b="1">
                <a:solidFill>
                  <a:srgbClr val="142037"/>
                </a:solidFill>
              </a:defRPr>
            </a:pPr>
            <a:r>
              <a:rPr u="sng">
                <a:latin typeface="Times New Roman" panose="02020603050405020304" charset="0"/>
                <a:cs typeface="Times New Roman" panose="02020603050405020304" charset="0"/>
              </a:rPr>
              <a:t>System Architecture &amp; Technology Stack</a:t>
            </a:r>
            <a:endParaRPr u="sng">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solidFill>
                <a:schemeClr val="tx1"/>
              </a:solidFill>
              <a:latin typeface="Times New Roman" panose="02020603050405020304" charset="0"/>
              <a:cs typeface="Times New Roman" panose="02020603050405020304" charset="0"/>
            </a:endParaRPr>
          </a:p>
        </p:txBody>
      </p:sp>
      <p:sp>
        <p:nvSpPr>
          <p:cNvPr id="2" name="Text Box 1"/>
          <p:cNvSpPr txBox="1"/>
          <p:nvPr/>
        </p:nvSpPr>
        <p:spPr>
          <a:xfrm>
            <a:off x="773430" y="558165"/>
            <a:ext cx="7013575" cy="891540"/>
          </a:xfrm>
          <a:prstGeom prst="rect">
            <a:avLst/>
          </a:prstGeom>
          <a:noFill/>
        </p:spPr>
        <p:txBody>
          <a:bodyPr wrap="square" rtlCol="0">
            <a:spAutoFit/>
          </a:bodyPr>
          <a:p>
            <a:r>
              <a:rPr sz="2800" b="1" u="sng">
                <a:solidFill>
                  <a:schemeClr val="tx1"/>
                </a:solidFill>
                <a:latin typeface="Times New Roman" panose="02020603050405020304" charset="0"/>
                <a:cs typeface="Times New Roman" panose="02020603050405020304" charset="0"/>
                <a:sym typeface="+mn-ea"/>
              </a:rPr>
              <a:t>Working Workflow &amp; User Interface</a:t>
            </a:r>
            <a:endParaRPr sz="2800" b="1" u="sng">
              <a:solidFill>
                <a:schemeClr val="tx1"/>
              </a:solidFill>
              <a:latin typeface="Times New Roman" panose="02020603050405020304" charset="0"/>
              <a:cs typeface="Times New Roman" panose="02020603050405020304" charset="0"/>
              <a:sym typeface="+mn-ea"/>
            </a:endParaRPr>
          </a:p>
          <a:p>
            <a:r>
              <a:rPr sz="1200">
                <a:solidFill>
                  <a:schemeClr val="tx1"/>
                </a:solidFill>
                <a:latin typeface="Times New Roman" panose="02020603050405020304" charset="0"/>
                <a:cs typeface="Times New Roman" panose="02020603050405020304" charset="0"/>
                <a:sym typeface="+mn-ea"/>
              </a:rPr>
              <a:t>From registration to successful project collaboration</a:t>
            </a:r>
            <a:endParaRPr sz="1200">
              <a:solidFill>
                <a:schemeClr val="tx1"/>
              </a:solidFill>
              <a:latin typeface="Times New Roman" panose="02020603050405020304" charset="0"/>
              <a:cs typeface="Times New Roman" panose="02020603050405020304" charset="0"/>
              <a:sym typeface="+mn-ea"/>
            </a:endParaRPr>
          </a:p>
          <a:p>
            <a:endParaRPr lang="en-GB" altLang="en-US" sz="1200" b="1" u="sng">
              <a:solidFill>
                <a:schemeClr val="tx1"/>
              </a:solidFill>
              <a:latin typeface="Times New Roman" panose="02020603050405020304" charset="0"/>
              <a:cs typeface="Times New Roman" panose="02020603050405020304" charset="0"/>
              <a:sym typeface="+mn-ea"/>
            </a:endParaRPr>
          </a:p>
        </p:txBody>
      </p:sp>
      <p:sp>
        <p:nvSpPr>
          <p:cNvPr id="5" name="Oval 4"/>
          <p:cNvSpPr/>
          <p:nvPr>
            <p:custDataLst>
              <p:tags r:id="rId2"/>
            </p:custDataLst>
          </p:nvPr>
        </p:nvSpPr>
        <p:spPr>
          <a:xfrm>
            <a:off x="773430" y="1449705"/>
            <a:ext cx="914400" cy="914400"/>
          </a:xfrm>
          <a:prstGeom prst="ellipse">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a:solidFill>
                  <a:schemeClr val="tx1"/>
                </a:solidFill>
                <a:latin typeface="Times New Roman" panose="02020603050405020304" charset="0"/>
                <a:cs typeface="Times New Roman" panose="02020603050405020304" charset="0"/>
              </a:rPr>
              <a:t>1</a:t>
            </a:r>
            <a:endParaRPr>
              <a:solidFill>
                <a:schemeClr val="tx1"/>
              </a:solidFill>
              <a:latin typeface="Times New Roman" panose="02020603050405020304" charset="0"/>
              <a:cs typeface="Times New Roman" panose="02020603050405020304" charset="0"/>
            </a:endParaRPr>
          </a:p>
        </p:txBody>
      </p:sp>
      <p:sp>
        <p:nvSpPr>
          <p:cNvPr id="6" name="Oval 5"/>
          <p:cNvSpPr/>
          <p:nvPr>
            <p:custDataLst>
              <p:tags r:id="rId3"/>
            </p:custDataLst>
          </p:nvPr>
        </p:nvSpPr>
        <p:spPr>
          <a:xfrm>
            <a:off x="6236335" y="1512570"/>
            <a:ext cx="914400" cy="914400"/>
          </a:xfrm>
          <a:prstGeom prst="ellipse">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lang="en-US">
                <a:solidFill>
                  <a:schemeClr val="tx1"/>
                </a:solidFill>
                <a:latin typeface="Times New Roman" panose="02020603050405020304" charset="0"/>
                <a:cs typeface="Times New Roman" panose="02020603050405020304" charset="0"/>
              </a:rPr>
              <a:t>4</a:t>
            </a:r>
            <a:endParaRPr lang="en-US">
              <a:solidFill>
                <a:schemeClr val="tx1"/>
              </a:solidFill>
              <a:latin typeface="Times New Roman" panose="02020603050405020304" charset="0"/>
              <a:cs typeface="Times New Roman" panose="02020603050405020304" charset="0"/>
            </a:endParaRPr>
          </a:p>
        </p:txBody>
      </p:sp>
      <p:sp>
        <p:nvSpPr>
          <p:cNvPr id="8" name="Oval 7"/>
          <p:cNvSpPr/>
          <p:nvPr>
            <p:custDataLst>
              <p:tags r:id="rId4"/>
            </p:custDataLst>
          </p:nvPr>
        </p:nvSpPr>
        <p:spPr>
          <a:xfrm>
            <a:off x="8191500" y="1512570"/>
            <a:ext cx="914400" cy="914400"/>
          </a:xfrm>
          <a:prstGeom prst="ellipse">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lang="en-US">
                <a:solidFill>
                  <a:schemeClr val="tx1"/>
                </a:solidFill>
                <a:latin typeface="Times New Roman" panose="02020603050405020304" charset="0"/>
                <a:cs typeface="Times New Roman" panose="02020603050405020304" charset="0"/>
              </a:rPr>
              <a:t>5</a:t>
            </a:r>
            <a:endParaRPr lang="en-US">
              <a:solidFill>
                <a:schemeClr val="tx1"/>
              </a:solidFill>
              <a:latin typeface="Times New Roman" panose="02020603050405020304" charset="0"/>
              <a:cs typeface="Times New Roman" panose="02020603050405020304" charset="0"/>
            </a:endParaRPr>
          </a:p>
        </p:txBody>
      </p:sp>
      <p:sp>
        <p:nvSpPr>
          <p:cNvPr id="9" name="Oval 8"/>
          <p:cNvSpPr/>
          <p:nvPr>
            <p:custDataLst>
              <p:tags r:id="rId5"/>
            </p:custDataLst>
          </p:nvPr>
        </p:nvSpPr>
        <p:spPr>
          <a:xfrm>
            <a:off x="4374515" y="1511935"/>
            <a:ext cx="944880" cy="914400"/>
          </a:xfrm>
          <a:prstGeom prst="ellipse">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lang="en-US">
                <a:solidFill>
                  <a:schemeClr val="tx1"/>
                </a:solidFill>
                <a:latin typeface="Times New Roman" panose="02020603050405020304" charset="0"/>
                <a:cs typeface="Times New Roman" panose="02020603050405020304" charset="0"/>
              </a:rPr>
              <a:t>3</a:t>
            </a:r>
            <a:endParaRPr lang="en-US">
              <a:solidFill>
                <a:schemeClr val="tx1"/>
              </a:solidFill>
              <a:latin typeface="Times New Roman" panose="02020603050405020304" charset="0"/>
              <a:cs typeface="Times New Roman" panose="02020603050405020304" charset="0"/>
            </a:endParaRPr>
          </a:p>
        </p:txBody>
      </p:sp>
      <p:sp>
        <p:nvSpPr>
          <p:cNvPr id="10" name="Oval 9"/>
          <p:cNvSpPr/>
          <p:nvPr>
            <p:custDataLst>
              <p:tags r:id="rId6"/>
            </p:custDataLst>
          </p:nvPr>
        </p:nvSpPr>
        <p:spPr>
          <a:xfrm>
            <a:off x="9951085" y="1512570"/>
            <a:ext cx="914400" cy="914400"/>
          </a:xfrm>
          <a:prstGeom prst="ellipse">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lang="en-US">
                <a:solidFill>
                  <a:schemeClr val="tx1"/>
                </a:solidFill>
                <a:latin typeface="Times New Roman" panose="02020603050405020304" charset="0"/>
                <a:cs typeface="Times New Roman" panose="02020603050405020304" charset="0"/>
              </a:rPr>
              <a:t>6</a:t>
            </a:r>
            <a:endParaRPr lang="en-US">
              <a:solidFill>
                <a:schemeClr val="tx1"/>
              </a:solidFill>
              <a:latin typeface="Times New Roman" panose="02020603050405020304" charset="0"/>
              <a:cs typeface="Times New Roman" panose="02020603050405020304" charset="0"/>
            </a:endParaRPr>
          </a:p>
        </p:txBody>
      </p:sp>
      <p:sp>
        <p:nvSpPr>
          <p:cNvPr id="11" name="Oval 10"/>
          <p:cNvSpPr/>
          <p:nvPr>
            <p:custDataLst>
              <p:tags r:id="rId7"/>
            </p:custDataLst>
          </p:nvPr>
        </p:nvSpPr>
        <p:spPr>
          <a:xfrm>
            <a:off x="2543175" y="1511935"/>
            <a:ext cx="914400" cy="914400"/>
          </a:xfrm>
          <a:prstGeom prst="ellipse">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lang="en-US">
                <a:solidFill>
                  <a:schemeClr val="tx1"/>
                </a:solidFill>
                <a:latin typeface="Times New Roman" panose="02020603050405020304" charset="0"/>
                <a:cs typeface="Times New Roman" panose="02020603050405020304" charset="0"/>
              </a:rPr>
              <a:t>2 </a:t>
            </a:r>
            <a:endParaRPr lang="en-US">
              <a:solidFill>
                <a:schemeClr val="tx1"/>
              </a:solidFill>
              <a:latin typeface="Times New Roman" panose="02020603050405020304" charset="0"/>
              <a:cs typeface="Times New Roman" panose="02020603050405020304" charset="0"/>
            </a:endParaRPr>
          </a:p>
        </p:txBody>
      </p:sp>
      <p:cxnSp>
        <p:nvCxnSpPr>
          <p:cNvPr id="13" name="Connector 7"/>
          <p:cNvCxnSpPr>
            <a:stCxn id="6" idx="6"/>
          </p:cNvCxnSpPr>
          <p:nvPr>
            <p:custDataLst>
              <p:tags r:id="rId8"/>
            </p:custDataLst>
          </p:nvPr>
        </p:nvCxnSpPr>
        <p:spPr>
          <a:xfrm>
            <a:off x="7150735" y="1969770"/>
            <a:ext cx="1035685" cy="10160"/>
          </a:xfrm>
          <a:prstGeom prst="line">
            <a:avLst/>
          </a:prstGeom>
          <a:ln w="25400">
            <a:solidFill>
              <a:srgbClr val="AAB4C3"/>
            </a:solidFill>
          </a:ln>
        </p:spPr>
        <p:style>
          <a:lnRef idx="2">
            <a:schemeClr val="accent1"/>
          </a:lnRef>
          <a:fillRef idx="0">
            <a:schemeClr val="accent1"/>
          </a:fillRef>
          <a:effectRef idx="1">
            <a:schemeClr val="accent1"/>
          </a:effectRef>
          <a:fontRef idx="minor">
            <a:schemeClr val="tx1"/>
          </a:fontRef>
        </p:style>
      </p:cxnSp>
      <p:cxnSp>
        <p:nvCxnSpPr>
          <p:cNvPr id="14" name="Connector 7"/>
          <p:cNvCxnSpPr>
            <a:stCxn id="11" idx="6"/>
            <a:endCxn id="9" idx="2"/>
          </p:cNvCxnSpPr>
          <p:nvPr>
            <p:custDataLst>
              <p:tags r:id="rId9"/>
            </p:custDataLst>
          </p:nvPr>
        </p:nvCxnSpPr>
        <p:spPr>
          <a:xfrm>
            <a:off x="3457575" y="1969135"/>
            <a:ext cx="916940" cy="0"/>
          </a:xfrm>
          <a:prstGeom prst="line">
            <a:avLst/>
          </a:prstGeom>
          <a:ln w="25400">
            <a:solidFill>
              <a:srgbClr val="AAB4C3"/>
            </a:solidFill>
          </a:ln>
        </p:spPr>
        <p:style>
          <a:lnRef idx="2">
            <a:schemeClr val="accent1"/>
          </a:lnRef>
          <a:fillRef idx="0">
            <a:schemeClr val="accent1"/>
          </a:fillRef>
          <a:effectRef idx="1">
            <a:schemeClr val="accent1"/>
          </a:effectRef>
          <a:fontRef idx="minor">
            <a:schemeClr val="tx1"/>
          </a:fontRef>
        </p:style>
      </p:cxnSp>
      <p:cxnSp>
        <p:nvCxnSpPr>
          <p:cNvPr id="16" name="Connector 7"/>
          <p:cNvCxnSpPr>
            <a:stCxn id="9" idx="6"/>
            <a:endCxn id="6" idx="2"/>
          </p:cNvCxnSpPr>
          <p:nvPr>
            <p:custDataLst>
              <p:tags r:id="rId10"/>
            </p:custDataLst>
          </p:nvPr>
        </p:nvCxnSpPr>
        <p:spPr>
          <a:xfrm>
            <a:off x="5319395" y="1969135"/>
            <a:ext cx="916940" cy="635"/>
          </a:xfrm>
          <a:prstGeom prst="line">
            <a:avLst/>
          </a:prstGeom>
          <a:ln w="25400">
            <a:solidFill>
              <a:srgbClr val="AAB4C3"/>
            </a:solidFill>
          </a:ln>
        </p:spPr>
        <p:style>
          <a:lnRef idx="2">
            <a:schemeClr val="accent1"/>
          </a:lnRef>
          <a:fillRef idx="0">
            <a:schemeClr val="accent1"/>
          </a:fillRef>
          <a:effectRef idx="1">
            <a:schemeClr val="accent1"/>
          </a:effectRef>
          <a:fontRef idx="minor">
            <a:schemeClr val="tx1"/>
          </a:fontRef>
        </p:style>
      </p:cxnSp>
      <p:cxnSp>
        <p:nvCxnSpPr>
          <p:cNvPr id="17" name="Connector 7"/>
          <p:cNvCxnSpPr/>
          <p:nvPr>
            <p:custDataLst>
              <p:tags r:id="rId11"/>
            </p:custDataLst>
          </p:nvPr>
        </p:nvCxnSpPr>
        <p:spPr>
          <a:xfrm flipV="1">
            <a:off x="1696085" y="1968500"/>
            <a:ext cx="847090" cy="1270"/>
          </a:xfrm>
          <a:prstGeom prst="line">
            <a:avLst/>
          </a:prstGeom>
          <a:ln w="25400">
            <a:solidFill>
              <a:srgbClr val="AAB4C3"/>
            </a:solidFill>
          </a:ln>
        </p:spPr>
        <p:style>
          <a:lnRef idx="2">
            <a:schemeClr val="accent1"/>
          </a:lnRef>
          <a:fillRef idx="0">
            <a:schemeClr val="accent1"/>
          </a:fillRef>
          <a:effectRef idx="1">
            <a:schemeClr val="accent1"/>
          </a:effectRef>
          <a:fontRef idx="minor">
            <a:schemeClr val="tx1"/>
          </a:fontRef>
        </p:style>
      </p:cxnSp>
      <p:cxnSp>
        <p:nvCxnSpPr>
          <p:cNvPr id="18" name="Connector 7"/>
          <p:cNvCxnSpPr/>
          <p:nvPr>
            <p:custDataLst>
              <p:tags r:id="rId12"/>
            </p:custDataLst>
          </p:nvPr>
        </p:nvCxnSpPr>
        <p:spPr>
          <a:xfrm flipV="1">
            <a:off x="9081135" y="1969135"/>
            <a:ext cx="869950" cy="10795"/>
          </a:xfrm>
          <a:prstGeom prst="line">
            <a:avLst/>
          </a:prstGeom>
          <a:ln w="25400">
            <a:solidFill>
              <a:srgbClr val="AAB4C3"/>
            </a:solidFill>
          </a:ln>
        </p:spPr>
        <p:style>
          <a:lnRef idx="2">
            <a:schemeClr val="accent1"/>
          </a:lnRef>
          <a:fillRef idx="0">
            <a:schemeClr val="accent1"/>
          </a:fillRef>
          <a:effectRef idx="1">
            <a:schemeClr val="accent1"/>
          </a:effectRef>
          <a:fontRef idx="minor">
            <a:schemeClr val="tx1"/>
          </a:fontRef>
        </p:style>
      </p:cxnSp>
      <p:sp>
        <p:nvSpPr>
          <p:cNvPr id="19" name="TextBox 5"/>
          <p:cNvSpPr txBox="1"/>
          <p:nvPr>
            <p:custDataLst>
              <p:tags r:id="rId13"/>
            </p:custDataLst>
          </p:nvPr>
        </p:nvSpPr>
        <p:spPr>
          <a:xfrm>
            <a:off x="453390" y="2489073"/>
            <a:ext cx="1554480" cy="457200"/>
          </a:xfrm>
          <a:prstGeom prst="rect">
            <a:avLst/>
          </a:prstGeom>
          <a:noFill/>
        </p:spPr>
        <p:txBody>
          <a:bodyPr wrap="none">
            <a:spAutoFit/>
          </a:bodyPr>
          <a:lstStyle/>
          <a:p>
            <a:pPr algn="ctr">
              <a:defRPr sz="1300" b="1">
                <a:solidFill>
                  <a:srgbClr val="142037"/>
                </a:solidFill>
              </a:defRPr>
            </a:pPr>
            <a:r>
              <a:rPr>
                <a:solidFill>
                  <a:schemeClr val="tx1"/>
                </a:solidFill>
                <a:latin typeface="Times New Roman" panose="02020603050405020304" charset="0"/>
                <a:cs typeface="Times New Roman" panose="02020603050405020304" charset="0"/>
              </a:rPr>
              <a:t>Register</a:t>
            </a:r>
            <a:endParaRPr>
              <a:solidFill>
                <a:schemeClr val="tx1"/>
              </a:solidFill>
              <a:latin typeface="Times New Roman" panose="02020603050405020304" charset="0"/>
              <a:cs typeface="Times New Roman" panose="02020603050405020304" charset="0"/>
            </a:endParaRPr>
          </a:p>
        </p:txBody>
      </p:sp>
      <p:sp>
        <p:nvSpPr>
          <p:cNvPr id="22" name="Text Box 21"/>
          <p:cNvSpPr txBox="1"/>
          <p:nvPr/>
        </p:nvSpPr>
        <p:spPr>
          <a:xfrm>
            <a:off x="4486910" y="2489200"/>
            <a:ext cx="2409190" cy="368300"/>
          </a:xfrm>
          <a:prstGeom prst="rect">
            <a:avLst/>
          </a:prstGeom>
          <a:noFill/>
        </p:spPr>
        <p:txBody>
          <a:bodyPr wrap="square" rtlCol="0">
            <a:spAutoFit/>
          </a:bodyPr>
          <a:p>
            <a:endParaRPr lang="en-GB" altLang="en-US">
              <a:solidFill>
                <a:schemeClr val="tx1"/>
              </a:solidFill>
              <a:latin typeface="Times New Roman" panose="02020603050405020304" charset="0"/>
              <a:cs typeface="Times New Roman" panose="02020603050405020304" charset="0"/>
            </a:endParaRPr>
          </a:p>
        </p:txBody>
      </p:sp>
      <p:sp>
        <p:nvSpPr>
          <p:cNvPr id="23" name="TextBox 9"/>
          <p:cNvSpPr txBox="1"/>
          <p:nvPr>
            <p:custDataLst>
              <p:tags r:id="rId14"/>
            </p:custDataLst>
          </p:nvPr>
        </p:nvSpPr>
        <p:spPr>
          <a:xfrm>
            <a:off x="2248534" y="2489073"/>
            <a:ext cx="1554480" cy="457200"/>
          </a:xfrm>
          <a:prstGeom prst="rect">
            <a:avLst/>
          </a:prstGeom>
          <a:noFill/>
        </p:spPr>
        <p:txBody>
          <a:bodyPr wrap="none">
            <a:spAutoFit/>
          </a:bodyPr>
          <a:lstStyle/>
          <a:p>
            <a:pPr algn="ctr">
              <a:defRPr sz="1300" b="1">
                <a:solidFill>
                  <a:srgbClr val="142037"/>
                </a:solidFill>
              </a:defRPr>
            </a:pPr>
            <a:r>
              <a:rPr>
                <a:solidFill>
                  <a:schemeClr val="tx1"/>
                </a:solidFill>
                <a:latin typeface="Times New Roman" panose="02020603050405020304" charset="0"/>
                <a:cs typeface="Times New Roman" panose="02020603050405020304" charset="0"/>
              </a:rPr>
              <a:t>Discover</a:t>
            </a:r>
            <a:endParaRPr>
              <a:solidFill>
                <a:schemeClr val="tx1"/>
              </a:solidFill>
              <a:latin typeface="Times New Roman" panose="02020603050405020304" charset="0"/>
              <a:cs typeface="Times New Roman" panose="02020603050405020304" charset="0"/>
            </a:endParaRPr>
          </a:p>
        </p:txBody>
      </p:sp>
      <p:sp>
        <p:nvSpPr>
          <p:cNvPr id="24" name="TextBox 13"/>
          <p:cNvSpPr txBox="1"/>
          <p:nvPr>
            <p:custDataLst>
              <p:tags r:id="rId15"/>
            </p:custDataLst>
          </p:nvPr>
        </p:nvSpPr>
        <p:spPr>
          <a:xfrm>
            <a:off x="4043680" y="2489073"/>
            <a:ext cx="1554480" cy="457200"/>
          </a:xfrm>
          <a:prstGeom prst="rect">
            <a:avLst/>
          </a:prstGeom>
          <a:noFill/>
        </p:spPr>
        <p:txBody>
          <a:bodyPr wrap="none">
            <a:spAutoFit/>
          </a:bodyPr>
          <a:lstStyle/>
          <a:p>
            <a:pPr algn="ctr">
              <a:defRPr sz="1300" b="1">
                <a:solidFill>
                  <a:srgbClr val="142037"/>
                </a:solidFill>
              </a:defRPr>
            </a:pPr>
            <a:r>
              <a:rPr>
                <a:solidFill>
                  <a:schemeClr val="tx1"/>
                </a:solidFill>
                <a:latin typeface="Times New Roman" panose="02020603050405020304" charset="0"/>
                <a:cs typeface="Times New Roman" panose="02020603050405020304" charset="0"/>
              </a:rPr>
              <a:t>Request</a:t>
            </a:r>
            <a:endParaRPr>
              <a:solidFill>
                <a:schemeClr val="tx1"/>
              </a:solidFill>
              <a:latin typeface="Times New Roman" panose="02020603050405020304" charset="0"/>
              <a:cs typeface="Times New Roman" panose="02020603050405020304" charset="0"/>
            </a:endParaRPr>
          </a:p>
        </p:txBody>
      </p:sp>
      <p:sp>
        <p:nvSpPr>
          <p:cNvPr id="26" name="TextBox 17"/>
          <p:cNvSpPr txBox="1"/>
          <p:nvPr>
            <p:custDataLst>
              <p:tags r:id="rId16"/>
            </p:custDataLst>
          </p:nvPr>
        </p:nvSpPr>
        <p:spPr>
          <a:xfrm>
            <a:off x="5957570" y="2489073"/>
            <a:ext cx="1554480" cy="457200"/>
          </a:xfrm>
          <a:prstGeom prst="rect">
            <a:avLst/>
          </a:prstGeom>
          <a:noFill/>
        </p:spPr>
        <p:txBody>
          <a:bodyPr wrap="none">
            <a:spAutoFit/>
          </a:bodyPr>
          <a:lstStyle/>
          <a:p>
            <a:pPr algn="ctr">
              <a:defRPr sz="1300" b="1">
                <a:solidFill>
                  <a:srgbClr val="142037"/>
                </a:solidFill>
              </a:defRPr>
            </a:pPr>
            <a:r>
              <a:rPr>
                <a:solidFill>
                  <a:schemeClr val="tx1"/>
                </a:solidFill>
                <a:latin typeface="Times New Roman" panose="02020603050405020304" charset="0"/>
                <a:cs typeface="Times New Roman" panose="02020603050405020304" charset="0"/>
              </a:rPr>
              <a:t>Workspace</a:t>
            </a:r>
            <a:endParaRPr>
              <a:solidFill>
                <a:schemeClr val="tx1"/>
              </a:solidFill>
              <a:latin typeface="Times New Roman" panose="02020603050405020304" charset="0"/>
              <a:cs typeface="Times New Roman" panose="02020603050405020304" charset="0"/>
            </a:endParaRPr>
          </a:p>
        </p:txBody>
      </p:sp>
      <p:sp>
        <p:nvSpPr>
          <p:cNvPr id="27" name="TextBox 21"/>
          <p:cNvSpPr txBox="1"/>
          <p:nvPr>
            <p:custDataLst>
              <p:tags r:id="rId17"/>
            </p:custDataLst>
          </p:nvPr>
        </p:nvSpPr>
        <p:spPr>
          <a:xfrm>
            <a:off x="7871460" y="2489073"/>
            <a:ext cx="1554480" cy="457200"/>
          </a:xfrm>
          <a:prstGeom prst="rect">
            <a:avLst/>
          </a:prstGeom>
          <a:noFill/>
        </p:spPr>
        <p:txBody>
          <a:bodyPr wrap="none">
            <a:spAutoFit/>
          </a:bodyPr>
          <a:lstStyle/>
          <a:p>
            <a:pPr algn="ctr">
              <a:defRPr sz="1300" b="1">
                <a:solidFill>
                  <a:srgbClr val="142037"/>
                </a:solidFill>
              </a:defRPr>
            </a:pPr>
            <a:r>
              <a:rPr>
                <a:solidFill>
                  <a:schemeClr val="tx1"/>
                </a:solidFill>
                <a:latin typeface="Times New Roman" panose="02020603050405020304" charset="0"/>
                <a:cs typeface="Times New Roman" panose="02020603050405020304" charset="0"/>
              </a:rPr>
              <a:t>Collaborate</a:t>
            </a:r>
            <a:endParaRPr>
              <a:solidFill>
                <a:schemeClr val="tx1"/>
              </a:solidFill>
              <a:latin typeface="Times New Roman" panose="02020603050405020304" charset="0"/>
              <a:cs typeface="Times New Roman" panose="02020603050405020304" charset="0"/>
            </a:endParaRPr>
          </a:p>
        </p:txBody>
      </p:sp>
      <p:sp>
        <p:nvSpPr>
          <p:cNvPr id="28" name="TextBox 25"/>
          <p:cNvSpPr txBox="1"/>
          <p:nvPr>
            <p:custDataLst>
              <p:tags r:id="rId18"/>
            </p:custDataLst>
          </p:nvPr>
        </p:nvSpPr>
        <p:spPr>
          <a:xfrm>
            <a:off x="9591675" y="2489073"/>
            <a:ext cx="1554480" cy="457200"/>
          </a:xfrm>
          <a:prstGeom prst="rect">
            <a:avLst/>
          </a:prstGeom>
          <a:noFill/>
        </p:spPr>
        <p:txBody>
          <a:bodyPr wrap="none">
            <a:spAutoFit/>
          </a:bodyPr>
          <a:lstStyle/>
          <a:p>
            <a:pPr algn="ctr">
              <a:defRPr sz="1300" b="1">
                <a:solidFill>
                  <a:srgbClr val="142037"/>
                </a:solidFill>
              </a:defRPr>
            </a:pPr>
            <a:r>
              <a:rPr>
                <a:solidFill>
                  <a:schemeClr val="tx1"/>
                </a:solidFill>
                <a:latin typeface="Times New Roman" panose="02020603050405020304" charset="0"/>
                <a:cs typeface="Times New Roman" panose="02020603050405020304" charset="0"/>
              </a:rPr>
              <a:t>Track</a:t>
            </a:r>
            <a:endParaRPr>
              <a:solidFill>
                <a:schemeClr val="tx1"/>
              </a:solidFill>
              <a:latin typeface="Times New Roman" panose="02020603050405020304" charset="0"/>
              <a:cs typeface="Times New Roman" panose="02020603050405020304" charset="0"/>
            </a:endParaRPr>
          </a:p>
        </p:txBody>
      </p:sp>
      <p:sp>
        <p:nvSpPr>
          <p:cNvPr id="30" name="TextBox 6"/>
          <p:cNvSpPr txBox="1"/>
          <p:nvPr>
            <p:custDataLst>
              <p:tags r:id="rId19"/>
            </p:custDataLst>
          </p:nvPr>
        </p:nvSpPr>
        <p:spPr>
          <a:xfrm>
            <a:off x="580390" y="2857500"/>
            <a:ext cx="1521460" cy="572135"/>
          </a:xfrm>
          <a:prstGeom prst="rect">
            <a:avLst/>
          </a:prstGeom>
          <a:noFill/>
        </p:spPr>
        <p:txBody>
          <a:bodyPr wrap="square">
            <a:noAutofit/>
          </a:bodyPr>
          <a:lstStyle/>
          <a:p>
            <a:pPr algn="l">
              <a:defRPr sz="950">
                <a:solidFill>
                  <a:srgbClr val="697485"/>
                </a:solidFill>
              </a:defRPr>
            </a:pPr>
            <a:r>
              <a:rPr>
                <a:solidFill>
                  <a:schemeClr val="tx1"/>
                </a:solidFill>
                <a:latin typeface="Times New Roman" panose="02020603050405020304" charset="0"/>
                <a:cs typeface="Times New Roman" panose="02020603050405020304" charset="0"/>
              </a:rPr>
              <a:t>Role-based onboarding</a:t>
            </a:r>
            <a:br>
              <a:rPr>
                <a:solidFill>
                  <a:schemeClr val="tx1"/>
                </a:solidFill>
                <a:latin typeface="Times New Roman" panose="02020603050405020304" charset="0"/>
                <a:cs typeface="Times New Roman" panose="02020603050405020304" charset="0"/>
              </a:rPr>
            </a:br>
            <a:r>
              <a:rPr>
                <a:solidFill>
                  <a:schemeClr val="tx1"/>
                </a:solidFill>
                <a:latin typeface="Times New Roman" panose="02020603050405020304" charset="0"/>
                <a:cs typeface="Times New Roman" panose="02020603050405020304" charset="0"/>
              </a:rPr>
              <a:t>Student / Mentor / Admin</a:t>
            </a:r>
            <a:endParaRPr>
              <a:solidFill>
                <a:schemeClr val="tx1"/>
              </a:solidFill>
              <a:latin typeface="Times New Roman" panose="02020603050405020304" charset="0"/>
              <a:cs typeface="Times New Roman" panose="02020603050405020304" charset="0"/>
            </a:endParaRPr>
          </a:p>
        </p:txBody>
      </p:sp>
      <p:sp>
        <p:nvSpPr>
          <p:cNvPr id="31" name="TextBox 10"/>
          <p:cNvSpPr txBox="1"/>
          <p:nvPr>
            <p:custDataLst>
              <p:tags r:id="rId20"/>
            </p:custDataLst>
          </p:nvPr>
        </p:nvSpPr>
        <p:spPr>
          <a:xfrm>
            <a:off x="2111374" y="2857627"/>
            <a:ext cx="1828800" cy="914400"/>
          </a:xfrm>
          <a:prstGeom prst="rect">
            <a:avLst/>
          </a:prstGeom>
          <a:noFill/>
        </p:spPr>
        <p:txBody>
          <a:bodyPr wrap="none">
            <a:spAutoFit/>
          </a:bodyPr>
          <a:lstStyle/>
          <a:p>
            <a:pPr algn="l">
              <a:defRPr sz="950">
                <a:solidFill>
                  <a:srgbClr val="697485"/>
                </a:solidFill>
              </a:defRPr>
            </a:pPr>
            <a:r>
              <a:rPr>
                <a:solidFill>
                  <a:schemeClr val="tx1"/>
                </a:solidFill>
                <a:latin typeface="Times New Roman" panose="02020603050405020304" charset="0"/>
                <a:cs typeface="Times New Roman" panose="02020603050405020304" charset="0"/>
              </a:rPr>
              <a:t>Search verified mentors</a:t>
            </a:r>
            <a:br>
              <a:rPr>
                <a:solidFill>
                  <a:schemeClr val="tx1"/>
                </a:solidFill>
                <a:latin typeface="Times New Roman" panose="02020603050405020304" charset="0"/>
                <a:cs typeface="Times New Roman" panose="02020603050405020304" charset="0"/>
              </a:rPr>
            </a:br>
            <a:r>
              <a:rPr>
                <a:solidFill>
                  <a:schemeClr val="tx1"/>
                </a:solidFill>
                <a:latin typeface="Times New Roman" panose="02020603050405020304" charset="0"/>
                <a:cs typeface="Times New Roman" panose="02020603050405020304" charset="0"/>
              </a:rPr>
              <a:t>by skills, experience &amp; rating</a:t>
            </a:r>
            <a:endParaRPr>
              <a:solidFill>
                <a:schemeClr val="tx1"/>
              </a:solidFill>
              <a:latin typeface="Times New Roman" panose="02020603050405020304" charset="0"/>
              <a:cs typeface="Times New Roman" panose="02020603050405020304" charset="0"/>
            </a:endParaRPr>
          </a:p>
        </p:txBody>
      </p:sp>
      <p:sp>
        <p:nvSpPr>
          <p:cNvPr id="32" name="TextBox 14"/>
          <p:cNvSpPr txBox="1"/>
          <p:nvPr>
            <p:custDataLst>
              <p:tags r:id="rId21"/>
            </p:custDataLst>
          </p:nvPr>
        </p:nvSpPr>
        <p:spPr>
          <a:xfrm>
            <a:off x="3966210" y="2857627"/>
            <a:ext cx="1828800" cy="914400"/>
          </a:xfrm>
          <a:prstGeom prst="rect">
            <a:avLst/>
          </a:prstGeom>
          <a:noFill/>
        </p:spPr>
        <p:txBody>
          <a:bodyPr wrap="none">
            <a:spAutoFit/>
          </a:bodyPr>
          <a:lstStyle/>
          <a:p>
            <a:pPr algn="l">
              <a:defRPr sz="950">
                <a:solidFill>
                  <a:srgbClr val="697485"/>
                </a:solidFill>
              </a:defRPr>
            </a:pPr>
            <a:r>
              <a:rPr>
                <a:solidFill>
                  <a:schemeClr val="tx1"/>
                </a:solidFill>
                <a:latin typeface="Times New Roman" panose="02020603050405020304" charset="0"/>
                <a:cs typeface="Times New Roman" panose="02020603050405020304" charset="0"/>
              </a:rPr>
              <a:t>Student submits</a:t>
            </a:r>
            <a:br>
              <a:rPr>
                <a:solidFill>
                  <a:schemeClr val="tx1"/>
                </a:solidFill>
                <a:latin typeface="Times New Roman" panose="02020603050405020304" charset="0"/>
                <a:cs typeface="Times New Roman" panose="02020603050405020304" charset="0"/>
              </a:rPr>
            </a:br>
            <a:r>
              <a:rPr>
                <a:solidFill>
                  <a:schemeClr val="tx1"/>
                </a:solidFill>
                <a:latin typeface="Times New Roman" panose="02020603050405020304" charset="0"/>
                <a:cs typeface="Times New Roman" panose="02020603050405020304" charset="0"/>
              </a:rPr>
              <a:t>project mentorship request</a:t>
            </a:r>
            <a:endParaRPr>
              <a:solidFill>
                <a:schemeClr val="tx1"/>
              </a:solidFill>
              <a:latin typeface="Times New Roman" panose="02020603050405020304" charset="0"/>
              <a:cs typeface="Times New Roman" panose="02020603050405020304" charset="0"/>
            </a:endParaRPr>
          </a:p>
        </p:txBody>
      </p:sp>
      <p:sp>
        <p:nvSpPr>
          <p:cNvPr id="33" name="TextBox 18"/>
          <p:cNvSpPr txBox="1"/>
          <p:nvPr>
            <p:custDataLst>
              <p:tags r:id="rId22"/>
            </p:custDataLst>
          </p:nvPr>
        </p:nvSpPr>
        <p:spPr>
          <a:xfrm>
            <a:off x="5820410" y="2860802"/>
            <a:ext cx="1828800" cy="914400"/>
          </a:xfrm>
          <a:prstGeom prst="rect">
            <a:avLst/>
          </a:prstGeom>
          <a:noFill/>
        </p:spPr>
        <p:txBody>
          <a:bodyPr wrap="none">
            <a:spAutoFit/>
          </a:bodyPr>
          <a:lstStyle/>
          <a:p>
            <a:pPr algn="l">
              <a:defRPr sz="950">
                <a:solidFill>
                  <a:srgbClr val="697485"/>
                </a:solidFill>
              </a:defRPr>
            </a:pPr>
            <a:r>
              <a:rPr>
                <a:solidFill>
                  <a:schemeClr val="tx1"/>
                </a:solidFill>
                <a:latin typeface="Times New Roman" panose="02020603050405020304" charset="0"/>
                <a:cs typeface="Times New Roman" panose="02020603050405020304" charset="0"/>
              </a:rPr>
              <a:t>Accepted request creates</a:t>
            </a:r>
            <a:br>
              <a:rPr>
                <a:solidFill>
                  <a:schemeClr val="tx1"/>
                </a:solidFill>
                <a:latin typeface="Times New Roman" panose="02020603050405020304" charset="0"/>
                <a:cs typeface="Times New Roman" panose="02020603050405020304" charset="0"/>
              </a:rPr>
            </a:br>
            <a:r>
              <a:rPr>
                <a:solidFill>
                  <a:schemeClr val="tx1"/>
                </a:solidFill>
                <a:latin typeface="Times New Roman" panose="02020603050405020304" charset="0"/>
                <a:cs typeface="Times New Roman" panose="02020603050405020304" charset="0"/>
              </a:rPr>
              <a:t>project + milestones + Kanban</a:t>
            </a:r>
            <a:endParaRPr>
              <a:solidFill>
                <a:schemeClr val="tx1"/>
              </a:solidFill>
              <a:latin typeface="Times New Roman" panose="02020603050405020304" charset="0"/>
              <a:cs typeface="Times New Roman" panose="02020603050405020304" charset="0"/>
            </a:endParaRPr>
          </a:p>
        </p:txBody>
      </p:sp>
      <p:sp>
        <p:nvSpPr>
          <p:cNvPr id="34" name="TextBox 22"/>
          <p:cNvSpPr txBox="1"/>
          <p:nvPr>
            <p:custDataLst>
              <p:tags r:id="rId23"/>
            </p:custDataLst>
          </p:nvPr>
        </p:nvSpPr>
        <p:spPr>
          <a:xfrm>
            <a:off x="7975600" y="2860675"/>
            <a:ext cx="1647825" cy="383540"/>
          </a:xfrm>
          <a:prstGeom prst="rect">
            <a:avLst/>
          </a:prstGeom>
          <a:noFill/>
        </p:spPr>
        <p:txBody>
          <a:bodyPr wrap="square">
            <a:spAutoFit/>
          </a:bodyPr>
          <a:lstStyle/>
          <a:p>
            <a:pPr algn="l">
              <a:defRPr sz="950">
                <a:solidFill>
                  <a:srgbClr val="697485"/>
                </a:solidFill>
              </a:defRPr>
            </a:pPr>
            <a:r>
              <a:rPr>
                <a:solidFill>
                  <a:schemeClr val="tx1"/>
                </a:solidFill>
                <a:latin typeface="Times New Roman" panose="02020603050405020304" charset="0"/>
                <a:cs typeface="Times New Roman" panose="02020603050405020304" charset="0"/>
              </a:rPr>
              <a:t>WebSocket chat + task updates</a:t>
            </a:r>
            <a:endParaRPr>
              <a:solidFill>
                <a:schemeClr val="tx1"/>
              </a:solidFill>
              <a:latin typeface="Times New Roman" panose="02020603050405020304" charset="0"/>
              <a:cs typeface="Times New Roman" panose="02020603050405020304" charset="0"/>
            </a:endParaRPr>
          </a:p>
        </p:txBody>
      </p:sp>
      <p:sp>
        <p:nvSpPr>
          <p:cNvPr id="35" name="TextBox 26"/>
          <p:cNvSpPr txBox="1"/>
          <p:nvPr>
            <p:custDataLst>
              <p:tags r:id="rId24"/>
            </p:custDataLst>
          </p:nvPr>
        </p:nvSpPr>
        <p:spPr>
          <a:xfrm>
            <a:off x="9587230" y="2860802"/>
            <a:ext cx="1828800" cy="914400"/>
          </a:xfrm>
          <a:prstGeom prst="rect">
            <a:avLst/>
          </a:prstGeom>
          <a:noFill/>
        </p:spPr>
        <p:txBody>
          <a:bodyPr wrap="none">
            <a:spAutoFit/>
          </a:bodyPr>
          <a:lstStyle/>
          <a:p>
            <a:pPr algn="l">
              <a:defRPr sz="950">
                <a:solidFill>
                  <a:srgbClr val="697485"/>
                </a:solidFill>
              </a:defRPr>
            </a:pPr>
            <a:r>
              <a:rPr>
                <a:solidFill>
                  <a:schemeClr val="tx1"/>
                </a:solidFill>
                <a:latin typeface="Times New Roman" panose="02020603050405020304" charset="0"/>
                <a:cs typeface="Times New Roman" panose="02020603050405020304" charset="0"/>
              </a:rPr>
              <a:t>Automatic progress,</a:t>
            </a:r>
            <a:br>
              <a:rPr>
                <a:solidFill>
                  <a:schemeClr val="tx1"/>
                </a:solidFill>
                <a:latin typeface="Times New Roman" panose="02020603050405020304" charset="0"/>
                <a:cs typeface="Times New Roman" panose="02020603050405020304" charset="0"/>
              </a:rPr>
            </a:br>
            <a:r>
              <a:rPr>
                <a:solidFill>
                  <a:schemeClr val="tx1"/>
                </a:solidFill>
                <a:latin typeface="Times New Roman" panose="02020603050405020304" charset="0"/>
                <a:cs typeface="Times New Roman" panose="02020603050405020304" charset="0"/>
              </a:rPr>
              <a:t>reviews &amp; admin monitoring</a:t>
            </a:r>
            <a:endParaRPr>
              <a:solidFill>
                <a:schemeClr val="tx1"/>
              </a:solidFill>
              <a:latin typeface="Times New Roman" panose="02020603050405020304" charset="0"/>
              <a:cs typeface="Times New Roman" panose="02020603050405020304" charset="0"/>
            </a:endParaRPr>
          </a:p>
        </p:txBody>
      </p:sp>
      <p:sp>
        <p:nvSpPr>
          <p:cNvPr id="36" name="Rounded Rectangle 35"/>
          <p:cNvSpPr/>
          <p:nvPr/>
        </p:nvSpPr>
        <p:spPr>
          <a:xfrm>
            <a:off x="580390" y="3925570"/>
            <a:ext cx="10332720" cy="2164715"/>
          </a:xfrm>
          <a:prstGeom prst="roundRect">
            <a:avLst/>
          </a:prstGeom>
          <a:solidFill>
            <a:srgbClr val="FFFFFF"/>
          </a:solidFill>
          <a:ln w="0" cap="sq">
            <a:noFill/>
          </a:ln>
        </p:spPr>
        <p:style>
          <a:lnRef idx="1">
            <a:schemeClr val="accent1"/>
          </a:lnRef>
          <a:fillRef idx="3">
            <a:schemeClr val="accent1"/>
          </a:fillRef>
          <a:effectRef idx="2">
            <a:schemeClr val="accent1"/>
          </a:effectRef>
          <a:fontRef idx="minor">
            <a:schemeClr val="lt1"/>
          </a:fontRef>
        </p:style>
        <p:txBody>
          <a:bodyPr lIns="256032" rIns="182880" rtlCol="0" anchor="ctr"/>
          <a:lstStyle/>
          <a:p>
            <a:pPr algn="l">
              <a:defRPr sz="1600" b="1">
                <a:solidFill>
                  <a:srgbClr val="142037"/>
                </a:solidFill>
              </a:defRPr>
            </a:pPr>
            <a:r>
              <a:rPr sz="2000">
                <a:latin typeface="Times New Roman" panose="02020603050405020304" charset="0"/>
                <a:cs typeface="Times New Roman" panose="02020603050405020304" charset="0"/>
              </a:rPr>
              <a:t>Implemented Screens</a:t>
            </a:r>
            <a:endParaRPr sz="2000">
              <a:latin typeface="Times New Roman" panose="02020603050405020304" charset="0"/>
              <a:cs typeface="Times New Roman" panose="02020603050405020304" charset="0"/>
            </a:endParaRPr>
          </a:p>
          <a:p>
            <a:pPr algn="l">
              <a:defRPr sz="1600" b="1">
                <a:solidFill>
                  <a:srgbClr val="142037"/>
                </a:solidFill>
              </a:defRPr>
            </a:pPr>
            <a:endParaRPr sz="2000">
              <a:latin typeface="Times New Roman" panose="02020603050405020304" charset="0"/>
              <a:cs typeface="Times New Roman" panose="02020603050405020304" charset="0"/>
            </a:endParaRPr>
          </a:p>
          <a:p>
            <a:pPr marL="285750" indent="-285750" algn="l">
              <a:buFont typeface="Arial" panose="020B0604020202020204" pitchFamily="34" charset="0"/>
              <a:buChar char="•"/>
              <a:defRPr sz="1600" b="1">
                <a:solidFill>
                  <a:srgbClr val="142037"/>
                </a:solidFill>
              </a:defRPr>
            </a:pPr>
            <a:r>
              <a:rPr sz="1400" b="0">
                <a:latin typeface="Times New Roman" panose="02020603050405020304" charset="0"/>
                <a:cs typeface="Times New Roman" panose="02020603050405020304" charset="0"/>
              </a:rPr>
              <a:t>Landing &amp; mentor discovery  </a:t>
            </a:r>
            <a:endParaRPr sz="1400" b="0">
              <a:latin typeface="Times New Roman" panose="02020603050405020304" charset="0"/>
              <a:cs typeface="Times New Roman" panose="02020603050405020304" charset="0"/>
            </a:endParaRPr>
          </a:p>
          <a:p>
            <a:pPr marL="285750" indent="-285750" algn="l">
              <a:buFont typeface="Arial" panose="020B0604020202020204" pitchFamily="34" charset="0"/>
              <a:buChar char="•"/>
              <a:defRPr sz="1600" b="1">
                <a:solidFill>
                  <a:srgbClr val="142037"/>
                </a:solidFill>
              </a:defRPr>
            </a:pPr>
            <a:r>
              <a:rPr sz="1400" b="0">
                <a:latin typeface="Times New Roman" panose="02020603050405020304" charset="0"/>
                <a:cs typeface="Times New Roman" panose="02020603050405020304" charset="0"/>
              </a:rPr>
              <a:t>Student project workspace </a:t>
            </a:r>
            <a:endParaRPr sz="1400" b="0">
              <a:latin typeface="Times New Roman" panose="02020603050405020304" charset="0"/>
              <a:cs typeface="Times New Roman" panose="02020603050405020304" charset="0"/>
            </a:endParaRPr>
          </a:p>
          <a:p>
            <a:pPr marL="285750" indent="-285750" algn="l">
              <a:buFont typeface="Arial" panose="020B0604020202020204" pitchFamily="34" charset="0"/>
              <a:buChar char="•"/>
              <a:defRPr sz="1600" b="1">
                <a:solidFill>
                  <a:srgbClr val="142037"/>
                </a:solidFill>
              </a:defRPr>
            </a:pPr>
            <a:r>
              <a:rPr sz="1400" b="0">
                <a:latin typeface="Times New Roman" panose="02020603050405020304" charset="0"/>
                <a:cs typeface="Times New Roman" panose="02020603050405020304" charset="0"/>
              </a:rPr>
              <a:t>Real-time messaging </a:t>
            </a:r>
            <a:endParaRPr sz="1400" b="0">
              <a:latin typeface="Times New Roman" panose="02020603050405020304" charset="0"/>
              <a:cs typeface="Times New Roman" panose="02020603050405020304" charset="0"/>
            </a:endParaRPr>
          </a:p>
          <a:p>
            <a:pPr marL="285750" indent="-285750" algn="l">
              <a:buFont typeface="Arial" panose="020B0604020202020204" pitchFamily="34" charset="0"/>
              <a:buChar char="•"/>
              <a:defRPr sz="1600" b="1">
                <a:solidFill>
                  <a:srgbClr val="142037"/>
                </a:solidFill>
              </a:defRPr>
            </a:pPr>
            <a:r>
              <a:rPr sz="1400" b="0">
                <a:latin typeface="Times New Roman" panose="02020603050405020304" charset="0"/>
                <a:cs typeface="Times New Roman" panose="02020603050405020304" charset="0"/>
              </a:rPr>
              <a:t>Mentorship session scheduler </a:t>
            </a:r>
            <a:endParaRPr sz="1400" b="0">
              <a:latin typeface="Times New Roman" panose="02020603050405020304" charset="0"/>
              <a:cs typeface="Times New Roman" panose="02020603050405020304" charset="0"/>
            </a:endParaRPr>
          </a:p>
          <a:p>
            <a:pPr marL="285750" indent="-285750" algn="l">
              <a:buFont typeface="Arial" panose="020B0604020202020204" pitchFamily="34" charset="0"/>
              <a:buChar char="•"/>
              <a:defRPr sz="1600" b="1">
                <a:solidFill>
                  <a:srgbClr val="142037"/>
                </a:solidFill>
              </a:defRPr>
            </a:pPr>
            <a:r>
              <a:rPr sz="1400" b="0">
                <a:latin typeface="Times New Roman" panose="02020603050405020304" charset="0"/>
                <a:cs typeface="Times New Roman" panose="02020603050405020304" charset="0"/>
              </a:rPr>
              <a:t>Admin telemetry dashboard </a:t>
            </a:r>
            <a:endParaRPr sz="1400" b="0">
              <a:latin typeface="Times New Roman" panose="02020603050405020304" charset="0"/>
              <a:cs typeface="Times New Roman" panose="02020603050405020304" charset="0"/>
            </a:endParaRPr>
          </a:p>
          <a:p>
            <a:pPr marL="285750" indent="-285750" algn="l">
              <a:buFont typeface="Arial" panose="020B0604020202020204" pitchFamily="34" charset="0"/>
              <a:buChar char="•"/>
              <a:defRPr sz="1600" b="1">
                <a:solidFill>
                  <a:srgbClr val="142037"/>
                </a:solidFill>
              </a:defRPr>
            </a:pPr>
            <a:r>
              <a:rPr sz="1400" b="0">
                <a:latin typeface="Times New Roman" panose="02020603050405020304" charset="0"/>
                <a:cs typeface="Times New Roman" panose="02020603050405020304" charset="0"/>
              </a:rPr>
              <a:t>Cross-platform mobile client</a:t>
            </a:r>
            <a:endParaRPr sz="1400" b="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p>
        </p:txBody>
      </p:sp>
      <p:sp>
        <p:nvSpPr>
          <p:cNvPr id="3" name="Text Box 2"/>
          <p:cNvSpPr txBox="1"/>
          <p:nvPr/>
        </p:nvSpPr>
        <p:spPr>
          <a:xfrm>
            <a:off x="670560" y="564515"/>
            <a:ext cx="6096000" cy="560705"/>
          </a:xfrm>
          <a:prstGeom prst="rect">
            <a:avLst/>
          </a:prstGeom>
          <a:noFill/>
        </p:spPr>
        <p:txBody>
          <a:bodyPr wrap="square" rtlCol="0" anchor="t">
            <a:noAutofit/>
          </a:bodyPr>
          <a:p>
            <a:r>
              <a:rPr sz="2800" u="sng">
                <a:latin typeface="Times New Roman" panose="02020603050405020304" charset="0"/>
                <a:cs typeface="Times New Roman" panose="02020603050405020304" charset="0"/>
                <a:sym typeface="+mn-ea"/>
              </a:rPr>
              <a:t>Results</a:t>
            </a:r>
            <a:endParaRPr lang="en-GB" altLang="en-US" u="sng">
              <a:sym typeface="+mn-ea"/>
            </a:endParaRPr>
          </a:p>
        </p:txBody>
      </p:sp>
      <p:sp>
        <p:nvSpPr>
          <p:cNvPr id="5" name="TextBox 3"/>
          <p:cNvSpPr txBox="1"/>
          <p:nvPr/>
        </p:nvSpPr>
        <p:spPr>
          <a:xfrm>
            <a:off x="700913" y="1054608"/>
            <a:ext cx="2797810" cy="275590"/>
          </a:xfrm>
          <a:prstGeom prst="rect">
            <a:avLst/>
          </a:prstGeom>
          <a:noFill/>
        </p:spPr>
        <p:txBody>
          <a:bodyPr wrap="none">
            <a:spAutoFit/>
          </a:bodyPr>
          <a:lstStyle/>
          <a:p>
            <a:pPr>
              <a:defRPr sz="1200">
                <a:solidFill>
                  <a:srgbClr val="697485"/>
                </a:solidFill>
              </a:defRPr>
            </a:pPr>
            <a:r>
              <a:rPr>
                <a:solidFill>
                  <a:schemeClr val="tx1"/>
                </a:solidFill>
                <a:latin typeface="Times New Roman" panose="02020603050405020304" charset="0"/>
                <a:cs typeface="Times New Roman" panose="02020603050405020304" charset="0"/>
              </a:rPr>
              <a:t>Key outcomes demonstrated by the project</a:t>
            </a:r>
            <a:endParaRPr>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3"/>
          <p:cNvPicPr/>
          <p:nvPr/>
        </p:nvPicPr>
        <p:blipFill>
          <a:blip r:embed="rId1"/>
          <a:stretch>
            <a:fillRect/>
          </a:stretch>
        </p:blipFill>
        <p:spPr>
          <a:xfrm>
            <a:off x="10997565" y="380365"/>
            <a:ext cx="618490" cy="552450"/>
          </a:xfrm>
          <a:prstGeom prst="rect">
            <a:avLst/>
          </a:prstGeom>
        </p:spPr>
      </p:pic>
      <p:sp>
        <p:nvSpPr>
          <p:cNvPr id="7" name="Rectangles 6"/>
          <p:cNvSpPr/>
          <p:nvPr/>
        </p:nvSpPr>
        <p:spPr>
          <a:xfrm>
            <a:off x="405130" y="316230"/>
            <a:ext cx="11366500" cy="6115050"/>
          </a:xfrm>
          <a:prstGeom prst="rect">
            <a:avLst/>
          </a:prstGeom>
          <a:ln w="28575" cmpd="sng">
            <a:solidFill>
              <a:srgbClr val="FF0000"/>
            </a:solidFill>
            <a:prstDash val="solid"/>
          </a:ln>
        </p:spPr>
        <p:style>
          <a:lnRef idx="3">
            <a:schemeClr val="accent1"/>
          </a:lnRef>
          <a:fillRef idx="0">
            <a:srgbClr val="FFFFFF"/>
          </a:fillRef>
          <a:effectRef idx="0">
            <a:srgbClr val="FFFFFF"/>
          </a:effectRef>
          <a:fontRef idx="minor">
            <a:schemeClr val="tx1"/>
          </a:fontRef>
        </p:style>
        <p:txBody>
          <a:bodyPr rtlCol="0" anchor="ctr"/>
          <a:p>
            <a:pPr algn="ctr"/>
            <a:endParaRPr lang="en-GB" altLang="en-US"/>
          </a:p>
        </p:txBody>
      </p:sp>
      <p:sp>
        <p:nvSpPr>
          <p:cNvPr id="3" name="TextBox 2"/>
          <p:cNvSpPr txBox="1"/>
          <p:nvPr/>
        </p:nvSpPr>
        <p:spPr>
          <a:xfrm>
            <a:off x="601980" y="570865"/>
            <a:ext cx="4844415" cy="744855"/>
          </a:xfrm>
          <a:prstGeom prst="rect">
            <a:avLst/>
          </a:prstGeom>
          <a:noFill/>
        </p:spPr>
        <p:txBody>
          <a:bodyPr wrap="none">
            <a:noAutofit/>
          </a:bodyPr>
          <a:lstStyle/>
          <a:p>
            <a:pPr>
              <a:defRPr sz="2800" b="1">
                <a:solidFill>
                  <a:srgbClr val="142037"/>
                </a:solidFill>
              </a:defRPr>
            </a:pPr>
            <a:r>
              <a:rPr u="sng"/>
              <a:t>Conclusion &amp; Future Scope</a:t>
            </a:r>
            <a:endParaRPr u="sng"/>
          </a:p>
        </p:txBody>
      </p:sp>
      <p:sp>
        <p:nvSpPr>
          <p:cNvPr id="9" name="Rounded Rectangle 8"/>
          <p:cNvSpPr/>
          <p:nvPr/>
        </p:nvSpPr>
        <p:spPr>
          <a:xfrm>
            <a:off x="756920" y="1558925"/>
            <a:ext cx="10495915" cy="206502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lIns="256032" rIns="182880" rtlCol="0" anchor="ctr"/>
          <a:lstStyle/>
          <a:p>
            <a:pPr algn="l">
              <a:defRPr sz="1600" b="1">
                <a:solidFill>
                  <a:srgbClr val="142037"/>
                </a:solidFill>
              </a:defRPr>
            </a:pPr>
            <a:r>
              <a:rPr sz="2000">
                <a:latin typeface="Times New Roman" panose="02020603050405020304" charset="0"/>
                <a:cs typeface="Times New Roman" panose="02020603050405020304" charset="0"/>
              </a:rPr>
              <a:t>Conclusion</a:t>
            </a:r>
            <a:endParaRPr sz="2000">
              <a:latin typeface="Times New Roman" panose="02020603050405020304" charset="0"/>
              <a:cs typeface="Times New Roman" panose="02020603050405020304" charset="0"/>
            </a:endParaRPr>
          </a:p>
          <a:p>
            <a:pPr algn="l">
              <a:defRPr sz="1600" b="1">
                <a:solidFill>
                  <a:srgbClr val="142037"/>
                </a:solidFill>
              </a:defRPr>
            </a:pPr>
            <a:endParaRPr sz="2000">
              <a:latin typeface="Times New Roman" panose="02020603050405020304" charset="0"/>
              <a:cs typeface="Times New Roman" panose="02020603050405020304" charset="0"/>
            </a:endParaRPr>
          </a:p>
          <a:p>
            <a:pPr algn="l">
              <a:defRPr sz="1600" b="1">
                <a:solidFill>
                  <a:srgbClr val="142037"/>
                </a:solidFill>
              </a:defRPr>
            </a:pPr>
          </a:p>
          <a:p>
            <a:pPr algn="l">
              <a:defRPr sz="1600" b="1">
                <a:solidFill>
                  <a:srgbClr val="142037"/>
                </a:solidFill>
              </a:defRPr>
            </a:pPr>
            <a:r>
              <a:rPr lang="en-US" altLang="en-GB" b="0">
                <a:latin typeface="Times New Roman" panose="02020603050405020304" charset="0"/>
                <a:cs typeface="Times New Roman" panose="02020603050405020304" charset="0"/>
              </a:rPr>
              <a:t>Guidely brings mentor finding, project tracking, chatting, and video meetings together in one platform. It makes communication between students and mentors easier and helps students manage their projects in an organized way. The system also focuses on security, testing, and good performance.</a:t>
            </a:r>
            <a:endParaRPr lang="en-US" altLang="en-GB" b="0">
              <a:latin typeface="Times New Roman" panose="02020603050405020304" charset="0"/>
              <a:cs typeface="Times New Roman" panose="02020603050405020304" charset="0"/>
            </a:endParaRPr>
          </a:p>
          <a:p>
            <a:pPr algn="l">
              <a:spcBef>
                <a:spcPts val="500"/>
              </a:spcBef>
              <a:defRPr sz="1250">
                <a:solidFill>
                  <a:srgbClr val="262D3A"/>
                </a:solidFill>
              </a:defRPr>
            </a:pPr>
            <a:endParaRPr lang="en-US" altLang="en-GB" b="0">
              <a:latin typeface="Times New Roman" panose="02020603050405020304" charset="0"/>
              <a:cs typeface="Times New Roman" panose="02020603050405020304" charset="0"/>
            </a:endParaRPr>
          </a:p>
        </p:txBody>
      </p:sp>
      <p:sp>
        <p:nvSpPr>
          <p:cNvPr id="11" name="Rounded Rectangle 10"/>
          <p:cNvSpPr/>
          <p:nvPr/>
        </p:nvSpPr>
        <p:spPr>
          <a:xfrm>
            <a:off x="869315" y="4250055"/>
            <a:ext cx="10697845" cy="177419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lIns="256032" rIns="182880" rtlCol="0" anchor="ctr"/>
          <a:lstStyle/>
          <a:p>
            <a:pPr algn="l">
              <a:defRPr sz="1600" b="1">
                <a:solidFill>
                  <a:srgbClr val="142037"/>
                </a:solidFill>
              </a:defRPr>
            </a:pPr>
            <a:r>
              <a:rPr sz="2000">
                <a:latin typeface="Times New Roman" panose="02020603050405020304" charset="0"/>
                <a:cs typeface="Times New Roman" panose="02020603050405020304" charset="0"/>
              </a:rPr>
              <a:t>Future Scope</a:t>
            </a:r>
            <a:endParaRPr sz="2000">
              <a:latin typeface="Times New Roman" panose="02020603050405020304" charset="0"/>
              <a:cs typeface="Times New Roman" panose="02020603050405020304" charset="0"/>
            </a:endParaRPr>
          </a:p>
          <a:p>
            <a:pPr algn="l">
              <a:defRPr sz="1600" b="1">
                <a:solidFill>
                  <a:srgbClr val="142037"/>
                </a:solidFill>
              </a:defRPr>
            </a:pPr>
            <a:endParaRPr sz="2000">
              <a:latin typeface="Times New Roman" panose="02020603050405020304" charset="0"/>
              <a:cs typeface="Times New Roman" panose="02020603050405020304" charset="0"/>
            </a:endParaRPr>
          </a:p>
          <a:p>
            <a:pPr algn="l">
              <a:spcBef>
                <a:spcPts val="500"/>
              </a:spcBef>
              <a:defRPr sz="1250">
                <a:solidFill>
                  <a:srgbClr val="262D3A"/>
                </a:solidFill>
              </a:defRPr>
            </a:pPr>
            <a:r>
              <a:rPr lang="en-US" altLang="en-GB" sz="1600">
                <a:latin typeface="Times New Roman" panose="02020603050405020304" charset="0"/>
                <a:cs typeface="Times New Roman" panose="02020603050405020304" charset="0"/>
              </a:rPr>
              <a:t>AI mentor matching, automatic project updates, mobile notifications, and code/plagiarism checking.</a:t>
            </a:r>
            <a:endParaRPr lang="en-US" altLang="en-GB" sz="1600">
              <a:latin typeface="Times New Roman" panose="02020603050405020304" charset="0"/>
              <a:cs typeface="Times New Roman" panose="02020603050405020304" charset="0"/>
            </a:endParaRPr>
          </a:p>
        </p:txBody>
      </p:sp>
      <p:sp>
        <p:nvSpPr>
          <p:cNvPr id="2" name="Rectangles 1"/>
          <p:cNvSpPr/>
          <p:nvPr/>
        </p:nvSpPr>
        <p:spPr>
          <a:xfrm>
            <a:off x="675640" y="1316355"/>
            <a:ext cx="10821035" cy="244221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 name="Rectangles 4"/>
          <p:cNvSpPr/>
          <p:nvPr/>
        </p:nvSpPr>
        <p:spPr>
          <a:xfrm>
            <a:off x="675640" y="4257040"/>
            <a:ext cx="10821035" cy="1818005"/>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tags/tag1.xml><?xml version="1.0" encoding="utf-8"?>
<p:tagLst xmlns:p="http://schemas.openxmlformats.org/presentationml/2006/main">
  <p:tag name="KSO_WM_DIAGRAM_VIRTUALLY_FRAME" val="{&quot;height&quot;:183.10999999999999,&quot;left&quot;:35.7,&quot;top&quot;:114.15,&quot;width&quot;:863.2}"/>
</p:tagLst>
</file>

<file path=ppt/tags/tag2.xml><?xml version="1.0" encoding="utf-8"?>
<p:tagLst xmlns:p="http://schemas.openxmlformats.org/presentationml/2006/main">
  <p:tag name="KSO_WM_DIAGRAM_VIRTUALLY_FRAME" val="{&quot;height&quot;:183.10999999999999,&quot;left&quot;:35.7,&quot;top&quot;:114.15,&quot;width&quot;:863.2}"/>
</p:tagLst>
</file>

<file path=ppt/tags/tag3.xml><?xml version="1.0" encoding="utf-8"?>
<p:tagLst xmlns:p="http://schemas.openxmlformats.org/presentationml/2006/main">
  <p:tag name="KSO_WM_DIAGRAM_VIRTUALLY_FRAME" val="{&quot;height&quot;:183.10999999999999,&quot;left&quot;:35.7,&quot;top&quot;:114.15,&quot;width&quot;:863.2}"/>
</p:tagLst>
</file>

<file path=ppt/tags/tag4.xml><?xml version="1.0" encoding="utf-8"?>
<p:tagLst xmlns:p="http://schemas.openxmlformats.org/presentationml/2006/main">
  <p:tag name="KSO_WM_DIAGRAM_VIRTUALLY_FRAME" val="{&quot;height&quot;:183.10999999999999,&quot;left&quot;:35.7,&quot;top&quot;:114.15,&quot;width&quot;:863.2}"/>
</p:tagLst>
</file>

<file path=ppt/tags/tag5.xml><?xml version="1.0" encoding="utf-8"?>
<p:tagLst xmlns:p="http://schemas.openxmlformats.org/presentationml/2006/main">
  <p:tag name="KSO_WM_DIAGRAM_VIRTUALLY_FRAME" val="{&quot;height&quot;:183.10999999999999,&quot;left&quot;:35.7,&quot;top&quot;:114.15,&quot;width&quot;:863.2}"/>
</p:tagLst>
</file>

<file path=ppt/tags/tag6.xml><?xml version="1.0" encoding="utf-8"?>
<p:tagLst xmlns:p="http://schemas.openxmlformats.org/presentationml/2006/main">
  <p:tag name="KSO_WM_DIAGRAM_VIRTUALLY_FRAME" val="{&quot;height&quot;:183.10999999999999,&quot;left&quot;:35.7,&quot;top&quot;:114.15,&quot;width&quot;:863.2}"/>
</p:tagLst>
</file>

<file path=ppt/tags/tag7.xml><?xml version="1.0" encoding="utf-8"?>
<p:tagLst xmlns:p="http://schemas.openxmlformats.org/presentationml/2006/main">
  <p:tag name="KSO_WM_DIAGRAM_VIRTUALLY_FRAME" val="{&quot;height&quot;:183.10999999999999,&quot;left&quot;:35.7,&quot;top&quot;:114.15,&quot;width&quot;:863.2}"/>
</p:tagLst>
</file>

<file path=ppt/tags/tag8.xml><?xml version="1.0" encoding="utf-8"?>
<p:tagLst xmlns:p="http://schemas.openxmlformats.org/presentationml/2006/main">
  <p:tag name="KSO_WM_DIAGRAM_VIRTUALLY_FRAME" val="{&quot;height&quot;:183.10999999999999,&quot;left&quot;:35.7,&quot;top&quot;:114.15,&quot;width&quot;:863.2}"/>
</p:tagLst>
</file>

<file path=ppt/tags/tag9.xml><?xml version="1.0" encoding="utf-8"?>
<p:tagLst xmlns:p="http://schemas.openxmlformats.org/presentationml/2006/main">
  <p:tag name="KSO_WM_DIAGRAM_VIRTUALLY_FRAME" val="{&quot;height&quot;:183.10999999999999,&quot;left&quot;:35.7,&quot;top&quot;:114.15,&quot;width&quot;:863.2}"/>
</p:tagLst>
</file>

<file path=ppt/tags/tag10.xml><?xml version="1.0" encoding="utf-8"?>
<p:tagLst xmlns:p="http://schemas.openxmlformats.org/presentationml/2006/main">
  <p:tag name="KSO_WM_DIAGRAM_VIRTUALLY_FRAME" val="{&quot;height&quot;:183.10999999999999,&quot;left&quot;:35.7,&quot;top&quot;:114.15,&quot;width&quot;:863.2}"/>
</p:tagLst>
</file>

<file path=ppt/tags/tag11.xml><?xml version="1.0" encoding="utf-8"?>
<p:tagLst xmlns:p="http://schemas.openxmlformats.org/presentationml/2006/main">
  <p:tag name="KSO_WM_DIAGRAM_VIRTUALLY_FRAME" val="{&quot;height&quot;:183.10999999999999,&quot;left&quot;:35.7,&quot;top&quot;:114.15,&quot;width&quot;:863.2}"/>
</p:tagLst>
</file>

<file path=ppt/tags/tag12.xml><?xml version="1.0" encoding="utf-8"?>
<p:tagLst xmlns:p="http://schemas.openxmlformats.org/presentationml/2006/main">
  <p:tag name="KSO_WM_DIAGRAM_VIRTUALLY_FRAME" val="{&quot;height&quot;:183.10999999999999,&quot;left&quot;:35.7,&quot;top&quot;:114.15,&quot;width&quot;:863.2}"/>
</p:tagLst>
</file>

<file path=ppt/tags/tag13.xml><?xml version="1.0" encoding="utf-8"?>
<p:tagLst xmlns:p="http://schemas.openxmlformats.org/presentationml/2006/main">
  <p:tag name="KSO_WM_DIAGRAM_VIRTUALLY_FRAME" val="{&quot;height&quot;:183.10999999999999,&quot;left&quot;:35.7,&quot;top&quot;:114.15,&quot;width&quot;:863.2}"/>
</p:tagLst>
</file>

<file path=ppt/tags/tag14.xml><?xml version="1.0" encoding="utf-8"?>
<p:tagLst xmlns:p="http://schemas.openxmlformats.org/presentationml/2006/main">
  <p:tag name="KSO_WM_DIAGRAM_VIRTUALLY_FRAME" val="{&quot;height&quot;:183.10999999999999,&quot;left&quot;:35.7,&quot;top&quot;:114.15,&quot;width&quot;:863.2}"/>
</p:tagLst>
</file>

<file path=ppt/tags/tag15.xml><?xml version="1.0" encoding="utf-8"?>
<p:tagLst xmlns:p="http://schemas.openxmlformats.org/presentationml/2006/main">
  <p:tag name="KSO_WM_DIAGRAM_VIRTUALLY_FRAME" val="{&quot;height&quot;:183.10999999999999,&quot;left&quot;:35.7,&quot;top&quot;:114.15,&quot;width&quot;:863.2}"/>
</p:tagLst>
</file>

<file path=ppt/tags/tag16.xml><?xml version="1.0" encoding="utf-8"?>
<p:tagLst xmlns:p="http://schemas.openxmlformats.org/presentationml/2006/main">
  <p:tag name="KSO_WM_DIAGRAM_VIRTUALLY_FRAME" val="{&quot;height&quot;:183.10999999999999,&quot;left&quot;:35.7,&quot;top&quot;:114.15,&quot;width&quot;:863.2}"/>
</p:tagLst>
</file>

<file path=ppt/tags/tag17.xml><?xml version="1.0" encoding="utf-8"?>
<p:tagLst xmlns:p="http://schemas.openxmlformats.org/presentationml/2006/main">
  <p:tag name="KSO_WM_DIAGRAM_VIRTUALLY_FRAME" val="{&quot;height&quot;:183.10999999999999,&quot;left&quot;:35.7,&quot;top&quot;:114.15,&quot;width&quot;:863.2}"/>
</p:tagLst>
</file>

<file path=ppt/tags/tag18.xml><?xml version="1.0" encoding="utf-8"?>
<p:tagLst xmlns:p="http://schemas.openxmlformats.org/presentationml/2006/main">
  <p:tag name="KSO_WM_DIAGRAM_VIRTUALLY_FRAME" val="{&quot;height&quot;:183.10999999999999,&quot;left&quot;:35.7,&quot;top&quot;:114.15,&quot;width&quot;:863.2}"/>
</p:tagLst>
</file>

<file path=ppt/tags/tag19.xml><?xml version="1.0" encoding="utf-8"?>
<p:tagLst xmlns:p="http://schemas.openxmlformats.org/presentationml/2006/main">
  <p:tag name="KSO_WM_DIAGRAM_VIRTUALLY_FRAME" val="{&quot;height&quot;:183.10999999999999,&quot;left&quot;:35.7,&quot;top&quot;:114.15,&quot;width&quot;:863.2}"/>
</p:tagLst>
</file>

<file path=ppt/tags/tag20.xml><?xml version="1.0" encoding="utf-8"?>
<p:tagLst xmlns:p="http://schemas.openxmlformats.org/presentationml/2006/main">
  <p:tag name="KSO_WM_DIAGRAM_VIRTUALLY_FRAME" val="{&quot;height&quot;:183.10999999999999,&quot;left&quot;:35.7,&quot;top&quot;:114.15,&quot;width&quot;:863.2}"/>
</p:tagLst>
</file>

<file path=ppt/tags/tag21.xml><?xml version="1.0" encoding="utf-8"?>
<p:tagLst xmlns:p="http://schemas.openxmlformats.org/presentationml/2006/main">
  <p:tag name="KSO_WM_DIAGRAM_VIRTUALLY_FRAME" val="{&quot;height&quot;:183.10999999999999,&quot;left&quot;:35.7,&quot;top&quot;:114.15,&quot;width&quot;:863.2}"/>
</p:tagLst>
</file>

<file path=ppt/tags/tag22.xml><?xml version="1.0" encoding="utf-8"?>
<p:tagLst xmlns:p="http://schemas.openxmlformats.org/presentationml/2006/main">
  <p:tag name="KSO_WM_DIAGRAM_VIRTUALLY_FRAME" val="{&quot;height&quot;:183.10999999999999,&quot;left&quot;:35.7,&quot;top&quot;:114.15,&quot;width&quot;:863.2}"/>
</p:tagLst>
</file>

<file path=ppt/tags/tag23.xml><?xml version="1.0" encoding="utf-8"?>
<p:tagLst xmlns:p="http://schemas.openxmlformats.org/presentationml/2006/main">
  <p:tag name="KSO_WM_DIAGRAM_VIRTUALLY_FRAME" val="{&quot;height&quot;:183.10999999999999,&quot;left&quot;:35.7,&quot;top&quot;:114.15,&quot;width&quot;:863.2}"/>
</p:tagLst>
</file>

<file path=ppt/theme/theme1.xml><?xml version="1.0" encoding="utf-8"?>
<a:theme xmlns:a="http://schemas.openxmlformats.org/drawingml/2006/main" name="Default Desig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2799</Words>
  <Application>WPS Presentation</Application>
  <PresentationFormat>Widescreen</PresentationFormat>
  <Paragraphs>141</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Times New Roman</vt:lpstr>
      <vt:lpstr>Microsoft YaHei</vt:lpstr>
      <vt:lpstr>Arial Unicode MS</vt:lpstr>
      <vt:lpstr>Calibri</vt:lpstr>
      <vt:lpstr>Default Design</vt:lpstr>
      <vt:lpstr>GUIDELY</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sapna</dc:creator>
  <cp:lastModifiedBy>sapna Jaiswal</cp:lastModifiedBy>
  <cp:revision>5</cp:revision>
  <dcterms:created xsi:type="dcterms:W3CDTF">2025-07-23T00:59:00Z</dcterms:created>
  <dcterms:modified xsi:type="dcterms:W3CDTF">2026-09-10T04:45:03Z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26AE840100904084927825B5BE1E5601_11</vt:lpwstr>
  </property>
  <property fmtid="{D5CDD505-2E9C-101B-9397-08002B2CF9AE}" pid="3" name="KSOProductBuildVer">
    <vt:lpwstr>2057-12.2.0.23206</vt:lpwstr>
  </property>
</Properties>
</file>