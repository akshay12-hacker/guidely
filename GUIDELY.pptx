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10728655" cy="5806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7D2FE"/>
                </a:solidFill>
                <a:latin typeface="Arial"/>
              </a:defRPr>
            </a:pPr>
            <a:r>
              <a:t>SANJEEV AGRAWAL GLOBAL EDUCATIONAL UNIVERSITY, BHOPAL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School of Computer Technology | Department of Computer Science &amp; Engineering | PBL Review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731520"/>
            <a:ext cx="822960" cy="822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97280" y="1417320"/>
            <a:ext cx="999713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999713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GUIDELY</a:t>
            </a:r>
          </a:p>
          <a:p>
            <a:pPr>
              <a:spcBef>
                <a:spcPts val="400"/>
              </a:spcBef>
              <a:defRPr sz="2000" b="1">
                <a:solidFill>
                  <a:srgbClr val="818CF8"/>
                </a:solidFill>
                <a:latin typeface="Arial"/>
              </a:defRPr>
            </a:pPr>
            <a:r>
              <a:t>E-learning &amp; Collaborative Project Mentorship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108960"/>
            <a:ext cx="8046720" cy="475488"/>
          </a:xfrm>
          <a:prstGeom prst="roundRect">
            <a:avLst/>
          </a:prstGeom>
          <a:solidFill>
            <a:srgbClr val="1E1B4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172968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 i="1">
                <a:solidFill>
                  <a:srgbClr val="E0E7FF"/>
                </a:solidFill>
                <a:latin typeface="Calibri"/>
              </a:defRPr>
            </a:pPr>
            <a:r>
              <a:t>“Connecting Students with the Right Mentors for Better Project Outcomes”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886200"/>
            <a:ext cx="5669280" cy="2057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005072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PROJECT TEAM (DEVELOPERS)</a:t>
            </a:r>
          </a:p>
          <a:p>
            <a:pPr>
              <a:spcBef>
                <a:spcPts val="400"/>
              </a:spcBef>
              <a:defRPr sz="1150" b="1">
                <a:solidFill>
                  <a:srgbClr val="FFFFFF"/>
                </a:solidFill>
                <a:latin typeface="Calibri"/>
              </a:defRPr>
            </a:pPr>
            <a:r>
              <a:t>•  Akshay Ramkishor Rahangdale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    Enrollment: BTE24CSF000002</a:t>
            </a:r>
          </a:p>
          <a:p>
            <a:pPr>
              <a:spcBef>
                <a:spcPts val="400"/>
              </a:spcBef>
              <a:defRPr sz="1150" b="1">
                <a:solidFill>
                  <a:srgbClr val="FFFFFF"/>
                </a:solidFill>
                <a:latin typeface="Calibri"/>
              </a:defRPr>
            </a:pPr>
            <a:r>
              <a:t>•  Abhimanyu Kumar Sahu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    Enrollment: BTE24CSF000001</a:t>
            </a:r>
          </a:p>
          <a:p>
            <a:pPr>
              <a:spcBef>
                <a:spcPts val="400"/>
              </a:spcBef>
              <a:defRPr sz="1150" b="1">
                <a:solidFill>
                  <a:srgbClr val="FFFFFF"/>
                </a:solidFill>
                <a:latin typeface="Calibri"/>
              </a:defRPr>
            </a:pPr>
            <a:r>
              <a:t>•  Sapna Jaiswal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    Enrollment: BTE24CSF000003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3886200"/>
            <a:ext cx="4144975" cy="2057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4005072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ACADEMIC DETAILS &amp; SUPERVISION</a:t>
            </a:r>
          </a:p>
          <a:p>
            <a:pPr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 Project Guide: </a:t>
            </a:r>
            <a:r>
              <a:rPr b="1">
                <a:solidFill>
                  <a:srgbClr val="FFFFFF"/>
                </a:solidFill>
              </a:rPr>
              <a:t>Prof. Nitin Chouhan</a:t>
            </a:r>
          </a:p>
          <a:p>
            <a:pPr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 Department: </a:t>
            </a:r>
            <a:r>
              <a:rPr b="1">
                <a:solidFill>
                  <a:srgbClr val="FFFFFF"/>
                </a:solidFill>
              </a:rPr>
              <a:t>School of Computer Technology</a:t>
            </a:r>
          </a:p>
          <a:p>
            <a:pPr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 Degree / Semester: </a:t>
            </a:r>
            <a:r>
              <a:rPr b="1">
                <a:solidFill>
                  <a:srgbClr val="FFFFFF"/>
                </a:solidFill>
              </a:rPr>
              <a:t>B.Tech (Hons.) CSE | V Semester</a:t>
            </a:r>
          </a:p>
          <a:p>
            <a:pPr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 Academic Year: </a:t>
            </a:r>
            <a:r>
              <a:rPr b="1">
                <a:solidFill>
                  <a:srgbClr val="FFFFFF"/>
                </a:solidFill>
              </a:rPr>
              <a:t>Autumn Session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Problem Statement &amp; Objectives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Addressing critical challenges in academic mentorship through a structured, unified solution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Guidely — E-learning &amp; Collaborative Project Mentorship Platform | SAGE University, Bhopal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Slide 2 of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417320"/>
            <a:ext cx="4846320" cy="50292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490472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11D48"/>
                </a:solidFill>
                <a:latin typeface="Arial"/>
              </a:defRPr>
            </a:pPr>
            <a:r>
              <a:t>⚠  PROBLEM STATEMENT (Current Challenges)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574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E11D48"/>
                </a:solidFill>
              </a:rPr>
              <a:t>✖  </a:t>
            </a:r>
            <a:r>
              <a:rPr sz="1050" b="1">
                <a:solidFill>
                  <a:srgbClr val="0F172A"/>
                </a:solidFill>
                <a:latin typeface="Arial"/>
              </a:rPr>
              <a:t>Tool Fragmentation &amp; Lost Context: </a:t>
            </a:r>
            <a:r>
              <a:rPr sz="950">
                <a:solidFill>
                  <a:srgbClr val="475569"/>
                </a:solidFill>
                <a:latin typeface="Calibri"/>
              </a:rPr>
              <a:t>Students scatter communications across WhatsApp, Zoom, email, and Google Drive, resulting in disjointed updates and lost project records.</a:t>
            </a:r>
          </a:p>
          <a:p>
            <a:pPr>
              <a:spcBef>
                <a:spcPts val="900"/>
              </a:spcBef>
            </a:pPr>
            <a:r>
              <a:rPr b="1" sz="1100">
                <a:solidFill>
                  <a:srgbClr val="E11D48"/>
                </a:solidFill>
              </a:rPr>
              <a:t>✖  </a:t>
            </a:r>
            <a:r>
              <a:rPr sz="1050" b="1">
                <a:solidFill>
                  <a:srgbClr val="0F172A"/>
                </a:solidFill>
                <a:latin typeface="Arial"/>
              </a:rPr>
              <a:t>Lack of Continuous Mentor Guidance: </a:t>
            </a:r>
            <a:r>
              <a:rPr sz="950">
                <a:solidFill>
                  <a:srgbClr val="475569"/>
                </a:solidFill>
                <a:latin typeface="Calibri"/>
              </a:rPr>
              <a:t>Guidance is limited to infrequent periodic reviews; students remain stuck on technical hurdles and domain blockers for days without help.</a:t>
            </a:r>
          </a:p>
          <a:p>
            <a:pPr>
              <a:spcBef>
                <a:spcPts val="900"/>
              </a:spcBef>
            </a:pPr>
            <a:r>
              <a:rPr b="1" sz="1100">
                <a:solidFill>
                  <a:srgbClr val="E11D48"/>
                </a:solidFill>
              </a:rPr>
              <a:t>✖  </a:t>
            </a:r>
            <a:r>
              <a:rPr sz="1050" b="1">
                <a:solidFill>
                  <a:srgbClr val="0F172A"/>
                </a:solidFill>
                <a:latin typeface="Arial"/>
              </a:rPr>
              <a:t>Opaque Milestone &amp; Progress Tracking: </a:t>
            </a:r>
            <a:r>
              <a:rPr sz="950">
                <a:solidFill>
                  <a:srgbClr val="475569"/>
                </a:solidFill>
                <a:latin typeface="Calibri"/>
              </a:rPr>
              <a:t>Progress tracking relies on verbal checks; students and guides struggle to quantify task completion rates or detect delays early.</a:t>
            </a:r>
          </a:p>
          <a:p>
            <a:pPr>
              <a:spcBef>
                <a:spcPts val="900"/>
              </a:spcBef>
            </a:pPr>
            <a:r>
              <a:rPr b="1" sz="1100">
                <a:solidFill>
                  <a:srgbClr val="E11D48"/>
                </a:solidFill>
              </a:rPr>
              <a:t>✖  </a:t>
            </a:r>
            <a:r>
              <a:rPr sz="1050" b="1">
                <a:solidFill>
                  <a:srgbClr val="0F172A"/>
                </a:solidFill>
                <a:latin typeface="Arial"/>
              </a:rPr>
              <a:t>Course-Centric LMS Platform Limitations: </a:t>
            </a:r>
            <a:r>
              <a:rPr sz="950">
                <a:solidFill>
                  <a:srgbClr val="475569"/>
                </a:solidFill>
                <a:latin typeface="Calibri"/>
              </a:rPr>
              <a:t>Traditional institutional LMS tools (Moodle, Blackboard) focus almost exclusively on coursework and grades, completely lacking project collaboration tools.</a:t>
            </a:r>
          </a:p>
          <a:p>
            <a:pPr>
              <a:spcBef>
                <a:spcPts val="900"/>
              </a:spcBef>
            </a:pPr>
            <a:r>
              <a:rPr b="1" sz="1100">
                <a:solidFill>
                  <a:srgbClr val="E11D48"/>
                </a:solidFill>
              </a:rPr>
              <a:t>✖  </a:t>
            </a:r>
            <a:r>
              <a:rPr sz="1050" b="1">
                <a:solidFill>
                  <a:srgbClr val="0F172A"/>
                </a:solidFill>
                <a:latin typeface="Arial"/>
              </a:rPr>
              <a:t>Mentor Visibility Deficit: </a:t>
            </a:r>
            <a:r>
              <a:rPr sz="950">
                <a:solidFill>
                  <a:srgbClr val="475569"/>
                </a:solidFill>
                <a:latin typeface="Calibri"/>
              </a:rPr>
              <a:t>Faculty mentors have near-zero visibility into student commit states, task allocation, and daily roadblock velocity until final viva submissions.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23444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0975" y="1417320"/>
            <a:ext cx="484632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8135" y="1490472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🎯  PROJECT OBJECTIVES (The Guidely Solution)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0975" y="20574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10B981"/>
                </a:solidFill>
              </a:rPr>
              <a:t>✔  </a:t>
            </a:r>
            <a:r>
              <a:rPr sz="1050" b="1">
                <a:solidFill>
                  <a:srgbClr val="0F172A"/>
                </a:solidFill>
                <a:latin typeface="Arial"/>
              </a:rPr>
              <a:t>Secure Role-Based Access Control (RBAC): </a:t>
            </a:r>
            <a:r>
              <a:rPr sz="950">
                <a:solidFill>
                  <a:srgbClr val="475569"/>
                </a:solidFill>
                <a:latin typeface="Calibri"/>
              </a:rPr>
              <a:t>Implement isolated, credentialed authentication and personalized workspaces for Student, Mentor, and Administrator roles with Google OAuth 2.0.</a:t>
            </a:r>
          </a:p>
          <a:p>
            <a:pPr>
              <a:spcBef>
                <a:spcPts val="900"/>
              </a:spcBef>
            </a:pPr>
            <a:r>
              <a:rPr b="1" sz="1100">
                <a:solidFill>
                  <a:srgbClr val="10B981"/>
                </a:solidFill>
              </a:rPr>
              <a:t>✔  </a:t>
            </a:r>
            <a:r>
              <a:rPr sz="1050" b="1">
                <a:solidFill>
                  <a:srgbClr val="0F172A"/>
                </a:solidFill>
                <a:latin typeface="Arial"/>
              </a:rPr>
              <a:t>Multi-Criteria Mentor Discovery &amp; Matching: </a:t>
            </a:r>
            <a:r>
              <a:rPr sz="950">
                <a:solidFill>
                  <a:srgbClr val="475569"/>
                </a:solidFill>
                <a:latin typeface="Calibri"/>
              </a:rPr>
              <a:t>Help students search and match with verified faculty mentors using domain skills, research experience, availability, and transparent peer ratings.</a:t>
            </a:r>
          </a:p>
          <a:p>
            <a:pPr>
              <a:spcBef>
                <a:spcPts val="900"/>
              </a:spcBef>
            </a:pPr>
            <a:r>
              <a:rPr b="1" sz="1100">
                <a:solidFill>
                  <a:srgbClr val="10B981"/>
                </a:solidFill>
              </a:rPr>
              <a:t>✔  </a:t>
            </a:r>
            <a:r>
              <a:rPr sz="1050" b="1">
                <a:solidFill>
                  <a:srgbClr val="0F172A"/>
                </a:solidFill>
                <a:latin typeface="Arial"/>
              </a:rPr>
              <a:t>Centralized Project Workspace &amp; Kanban: </a:t>
            </a:r>
            <a:r>
              <a:rPr sz="950">
                <a:solidFill>
                  <a:srgbClr val="475569"/>
                </a:solidFill>
                <a:latin typeface="Calibri"/>
              </a:rPr>
              <a:t>Provide an all-in-one workspace featuring structured goals, chronological milestones, and an interactive 4-column Kanban board with live progress calculation.</a:t>
            </a:r>
          </a:p>
          <a:p>
            <a:pPr>
              <a:spcBef>
                <a:spcPts val="900"/>
              </a:spcBef>
            </a:pPr>
            <a:r>
              <a:rPr b="1" sz="1100">
                <a:solidFill>
                  <a:srgbClr val="10B981"/>
                </a:solidFill>
              </a:rPr>
              <a:t>✔  </a:t>
            </a:r>
            <a:r>
              <a:rPr sz="1050" b="1">
                <a:solidFill>
                  <a:srgbClr val="0F172A"/>
                </a:solidFill>
                <a:latin typeface="Arial"/>
              </a:rPr>
              <a:t>Synchronous Real-Time Collaboration Hub: </a:t>
            </a:r>
            <a:r>
              <a:rPr sz="950">
                <a:solidFill>
                  <a:srgbClr val="475569"/>
                </a:solidFill>
                <a:latin typeface="Calibri"/>
              </a:rPr>
              <a:t>Empower students and mentors with instant WebSocket dual-pane messaging (&lt;18ms latency) and in-platform 1-to-1 video mentorship sessions.</a:t>
            </a:r>
          </a:p>
          <a:p>
            <a:pPr>
              <a:spcBef>
                <a:spcPts val="900"/>
              </a:spcBef>
            </a:pPr>
            <a:r>
              <a:rPr b="1" sz="1100">
                <a:solidFill>
                  <a:srgbClr val="10B981"/>
                </a:solidFill>
              </a:rPr>
              <a:t>✔  </a:t>
            </a:r>
            <a:r>
              <a:rPr sz="1050" b="1">
                <a:solidFill>
                  <a:srgbClr val="0F172A"/>
                </a:solidFill>
                <a:latin typeface="Arial"/>
              </a:rPr>
              <a:t>Institutional Governance &amp; Verification: </a:t>
            </a:r>
            <a:r>
              <a:rPr sz="950">
                <a:solidFill>
                  <a:srgbClr val="475569"/>
                </a:solidFill>
                <a:latin typeface="Calibri"/>
              </a:rPr>
              <a:t>Equip department administrators to verify mentor credentials, monitor active project velocity, and oversee institutional platform telemetry.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Proposed Solution &amp; Key Features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 unified ecosystem covering the complete mentorship lifecycle around a central project engine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Guidely — E-learning &amp; Collaborative Project Mentorship Platform | SAGE University, Bhopal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Slide 3 of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2788920"/>
            <a:ext cx="3291840" cy="1737360"/>
          </a:xfrm>
          <a:prstGeom prst="roundRect">
            <a:avLst/>
          </a:prstGeom>
          <a:solidFill>
            <a:srgbClr val="4F46E5"/>
          </a:solidFill>
          <a:ln w="254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1367" y="30175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GUIDELY</a:t>
            </a:r>
          </a:p>
          <a:p>
            <a:pPr algn="ctr">
              <a:defRPr sz="1200" b="1">
                <a:solidFill>
                  <a:srgbClr val="C7D2FE"/>
                </a:solidFill>
                <a:latin typeface="Calibri"/>
              </a:defRPr>
            </a:pPr>
            <a:r>
              <a:t>Unified Mentorship Platform</a:t>
            </a:r>
          </a:p>
          <a:p>
            <a:pPr algn="ctr">
              <a:spcBef>
                <a:spcPts val="200"/>
              </a:spcBef>
              <a:defRPr sz="950">
                <a:solidFill>
                  <a:srgbClr val="E0E7FF"/>
                </a:solidFill>
                <a:latin typeface="Calibri"/>
              </a:defRPr>
            </a:pPr>
            <a:r>
              <a:t>Complete 6-Module Lifecycle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23444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34416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A5E9"/>
                </a:solidFill>
                <a:latin typeface="Arial"/>
              </a:rPr>
              <a:t>1. </a:t>
            </a:r>
            <a:r>
              <a:rPr sz="1200" b="1">
                <a:solidFill>
                  <a:srgbClr val="0F172A"/>
                </a:solidFill>
                <a:latin typeface="Arial"/>
              </a:rPr>
              <a:t>Mentor Discovery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Multi-criteria filter: domain, skills, experience, ratings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Faculty verification badges &amp; authentic student reviews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Direct profile inspection with hourly guidance availability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Arial"/>
              </a:rPr>
              <a:t>2. </a:t>
            </a:r>
            <a:r>
              <a:rPr sz="1200" b="1">
                <a:solidFill>
                  <a:srgbClr val="0F172A"/>
                </a:solidFill>
                <a:latin typeface="Arial"/>
              </a:rPr>
              <a:t>Mentorship Requests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Structured student project proposal submissions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Asynchronous mentor review: Accept, Reject, or Feedback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Formal terms alignment before workspace initialization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2628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63600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0B981"/>
                </a:solidFill>
                <a:latin typeface="Arial"/>
              </a:rPr>
              <a:t>3. </a:t>
            </a:r>
            <a:r>
              <a:rPr sz="1200" b="1">
                <a:solidFill>
                  <a:srgbClr val="0F172A"/>
                </a:solidFill>
                <a:latin typeface="Arial"/>
              </a:rPr>
              <a:t>Project Workspace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Hierarchical roadmap: Project Goals → Milestones → Tasks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Interactive 4-state Kanban (TODO, PROGRESS, REVIEW, DONE)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Dynamic milestone completion &amp; automated progress tracking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85455" y="123444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2615" y="134416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Arial"/>
              </a:rPr>
              <a:t>4. </a:t>
            </a:r>
            <a:r>
              <a:rPr sz="1200" b="1">
                <a:solidFill>
                  <a:srgbClr val="0F172A"/>
                </a:solidFill>
                <a:latin typeface="Arial"/>
              </a:rPr>
              <a:t>Real-Time Collaboration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WebSocket-based instant dual-pane messaging (&lt;18ms)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Real-time unread badges &amp; active conversation threads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Instant task status updates synchronized across users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85455" y="288036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2615" y="299008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Arial"/>
              </a:rPr>
              <a:t>5. </a:t>
            </a:r>
            <a:r>
              <a:rPr sz="1200" b="1">
                <a:solidFill>
                  <a:srgbClr val="0F172A"/>
                </a:solidFill>
                <a:latin typeface="Arial"/>
              </a:rPr>
              <a:t>Video Mentorship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1-to-1 WebRTC video meetings via Jitsi Meet integration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Calendar scheduling with agenda topics &amp; confirmation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Zero external software install — 100% in-browser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85455" y="452628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2615" y="463600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11D48"/>
                </a:solidFill>
                <a:latin typeface="Arial"/>
              </a:rPr>
              <a:t>6. </a:t>
            </a:r>
            <a:r>
              <a:rPr sz="1200" b="1">
                <a:solidFill>
                  <a:srgbClr val="0F172A"/>
                </a:solidFill>
                <a:latin typeface="Arial"/>
              </a:rPr>
              <a:t>Admin Governance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Faculty mentor credential verification &amp; approval portal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Institutional user management &amp; access moderation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  <a:latin typeface="Calibri"/>
              </a:defRPr>
            </a:pPr>
            <a:r>
              <a:t>•  Telemetry dashboard: active projects, metrics &amp; audit logs</a:t>
            </a:r>
          </a:p>
        </p:txBody>
      </p:sp>
      <p:sp>
        <p:nvSpPr>
          <p:cNvPr id="24" name="Left Arrow 23"/>
          <p:cNvSpPr/>
          <p:nvPr/>
        </p:nvSpPr>
        <p:spPr>
          <a:xfrm>
            <a:off x="4297680" y="3520440"/>
            <a:ext cx="365760" cy="228600"/>
          </a:xfrm>
          <a:prstGeom prst="lef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7498079" y="3520440"/>
            <a:ext cx="365760" cy="22860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System Architecture &amp; Technology Stack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Decoupled multi-tier engineering with dual-protocol communication and relational integrity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Guidely — E-learning &amp; Collaborative Project Mentorship Platform | SAGE University, Bhopal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Slide 4 of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2011680" cy="658368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80744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EA5E9"/>
                </a:solidFill>
                <a:latin typeface="Arial"/>
              </a:defRPr>
            </a:pPr>
            <a:r>
              <a:t>CLIENT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234440"/>
            <a:ext cx="862553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1307592"/>
            <a:ext cx="2743200" cy="512063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1344168"/>
            <a:ext cx="2596896" cy="438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Web Client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React 19 + TypeScript, Vite, Tailwind CSS, Lucide Icons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79008" y="1307592"/>
            <a:ext cx="2743200" cy="512063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344168"/>
            <a:ext cx="2596896" cy="438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Mobile Client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React Native + Expo container, SecureStore, WebView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31936" y="1307592"/>
            <a:ext cx="2743200" cy="512063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8" y="1344168"/>
            <a:ext cx="2596896" cy="438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Responsive UI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Role-based dashboards, interactive Kanban, dual-pane 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993392"/>
            <a:ext cx="2011680" cy="658368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139696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4F46E5"/>
                </a:solidFill>
                <a:latin typeface="Arial"/>
              </a:defRPr>
            </a:pPr>
            <a:r>
              <a:t>REAL-TIME &amp; COMM.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1993392"/>
            <a:ext cx="862553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926080" y="2066544"/>
            <a:ext cx="2743200" cy="512063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2103120"/>
            <a:ext cx="2596896" cy="438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WebSocket Gateway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Full-duplex persistent bidirectional channel (ws package)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79008" y="2066544"/>
            <a:ext cx="2743200" cy="512063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2103120"/>
            <a:ext cx="2596896" cy="438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Real-Time Chat &amp; Sync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Sub-second messaging (&lt;18ms delivery) &amp; task status updates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31936" y="2066544"/>
            <a:ext cx="2743200" cy="512063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05088" y="2103120"/>
            <a:ext cx="2596896" cy="438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Video Integration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Jitsi Meet WebRTC bridge for 1-to-1 mentor consultations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2752344"/>
            <a:ext cx="20116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94436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APPLICATION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2752344"/>
            <a:ext cx="862553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26080" y="2825496"/>
            <a:ext cx="2743200" cy="603503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2" y="2862072"/>
            <a:ext cx="2596896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Core Modules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Student, Mentor &amp; Admin modules; Discovery, Requests, Workspace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79008" y="2825496"/>
            <a:ext cx="2743200" cy="603503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2862072"/>
            <a:ext cx="2596896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Backend Engine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Node.js &amp; Express.js REST APIs with layered Service-Controller pattern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31936" y="2825496"/>
            <a:ext cx="2743200" cy="603503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05088" y="2862072"/>
            <a:ext cx="2596896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Security &amp; Middleware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Zod schema validation, Helmet HTTP headers, Rate limiting, Pino logs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602736"/>
            <a:ext cx="2011680" cy="621792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373075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0B981"/>
                </a:solidFill>
                <a:latin typeface="Arial"/>
              </a:defRPr>
            </a:pPr>
            <a:r>
              <a:t>DATA &amp; STORAGE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34640" y="3602736"/>
            <a:ext cx="862553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926080" y="3675887"/>
            <a:ext cx="2743200" cy="4754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9232" y="3712463"/>
            <a:ext cx="259689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Relational Database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SQLite3 with 11 normalized tables, indexed queries (&lt;12ms latency)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79008" y="3675887"/>
            <a:ext cx="2743200" cy="4754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3712463"/>
            <a:ext cx="259689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Cloud Media Storage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Cloudinary SDK for secure avatars, project media &amp; CDN delivery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325112"/>
            <a:ext cx="2011680" cy="59436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43941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D97706"/>
                </a:solidFill>
                <a:latin typeface="Arial"/>
              </a:defRPr>
            </a:pPr>
            <a:r>
              <a:t>DEPLOYMENT / INFRA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34640" y="4325112"/>
            <a:ext cx="862553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926080" y="4398264"/>
            <a:ext cx="2743200" cy="44805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99232" y="4434840"/>
            <a:ext cx="2596896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Web Deployment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Vercel Edge hosting with serverless functions and automated CI/CD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79008" y="4398264"/>
            <a:ext cx="2743200" cy="44805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52160" y="4434840"/>
            <a:ext cx="2596896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Network &amp; Delivery</a:t>
            </a:r>
          </a:p>
          <a:p>
            <a:pPr>
              <a:spcBef>
                <a:spcPts val="1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Global CDN distribution, SSL/TLS encryption, and automated bundling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5029200"/>
            <a:ext cx="10728655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05663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312E81"/>
                </a:solidFill>
                <a:latin typeface="Arial"/>
              </a:defRPr>
            </a:pPr>
            <a:r>
              <a:t>Connected Flow:   User ➔ Client (Web/Mobile) ➔ REST APIs / WebSocket Gateway ➔ Business Logic Tier ➔ SQLite Database / Cloudinary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5440680"/>
            <a:ext cx="1709928" cy="8686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532120"/>
            <a:ext cx="161848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0EA5E9"/>
                </a:solidFill>
                <a:latin typeface="Arial"/>
              </a:defRPr>
            </a:pPr>
            <a:r>
              <a:t>Frontend</a:t>
            </a:r>
          </a:p>
          <a:p>
            <a:pPr algn="ctr">
              <a:spcBef>
                <a:spcPts val="300"/>
              </a:spcBef>
              <a:defRPr sz="850" b="1">
                <a:solidFill>
                  <a:srgbClr val="0F172A"/>
                </a:solidFill>
                <a:latin typeface="Calibri"/>
              </a:defRPr>
            </a:pPr>
            <a:r>
              <a:t>React 19 / TS / Vite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532888" y="5440680"/>
            <a:ext cx="1709928" cy="868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78608" y="5532120"/>
            <a:ext cx="161848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4F46E5"/>
                </a:solidFill>
                <a:latin typeface="Arial"/>
              </a:defRPr>
            </a:pPr>
            <a:r>
              <a:t>Backend</a:t>
            </a:r>
          </a:p>
          <a:p>
            <a:pPr algn="ctr">
              <a:spcBef>
                <a:spcPts val="300"/>
              </a:spcBef>
              <a:defRPr sz="850" b="1">
                <a:solidFill>
                  <a:srgbClr val="0F172A"/>
                </a:solidFill>
                <a:latin typeface="Calibri"/>
              </a:defRPr>
            </a:pPr>
            <a:r>
              <a:t>Node.js / Express / 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34256" y="5440680"/>
            <a:ext cx="1709928" cy="868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79976" y="5532120"/>
            <a:ext cx="161848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10B981"/>
                </a:solidFill>
                <a:latin typeface="Arial"/>
              </a:defRPr>
            </a:pPr>
            <a:r>
              <a:t>Database</a:t>
            </a:r>
          </a:p>
          <a:p>
            <a:pPr algn="ctr">
              <a:spcBef>
                <a:spcPts val="300"/>
              </a:spcBef>
              <a:defRPr sz="850" b="1">
                <a:solidFill>
                  <a:srgbClr val="0F172A"/>
                </a:solidFill>
                <a:latin typeface="Calibri"/>
              </a:defRPr>
            </a:pPr>
            <a:r>
              <a:t>SQLite3 (11 Tables)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35624" y="5440680"/>
            <a:ext cx="1709928" cy="868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81344" y="5532120"/>
            <a:ext cx="161848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312E81"/>
                </a:solidFill>
                <a:latin typeface="Arial"/>
              </a:defRPr>
            </a:pPr>
            <a:r>
              <a:t>Real-Time</a:t>
            </a:r>
          </a:p>
          <a:p>
            <a:pPr algn="ctr">
              <a:spcBef>
                <a:spcPts val="300"/>
              </a:spcBef>
              <a:defRPr sz="850" b="1">
                <a:solidFill>
                  <a:srgbClr val="0F172A"/>
                </a:solidFill>
                <a:latin typeface="Calibri"/>
              </a:defRPr>
            </a:pPr>
            <a:r>
              <a:t>WebSockets (ws)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936992" y="5440680"/>
            <a:ext cx="1709928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82712" y="5532120"/>
            <a:ext cx="161848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D97706"/>
                </a:solidFill>
                <a:latin typeface="Arial"/>
              </a:defRPr>
            </a:pPr>
            <a:r>
              <a:t>Auth &amp; Media</a:t>
            </a:r>
          </a:p>
          <a:p>
            <a:pPr algn="ctr">
              <a:spcBef>
                <a:spcPts val="300"/>
              </a:spcBef>
              <a:defRPr sz="850" b="1">
                <a:solidFill>
                  <a:srgbClr val="0F172A"/>
                </a:solidFill>
                <a:latin typeface="Calibri"/>
              </a:defRPr>
            </a:pPr>
            <a:r>
              <a:t>Google OAuth / Cloudinary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738360" y="5440680"/>
            <a:ext cx="1709928" cy="8686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84080" y="5532120"/>
            <a:ext cx="161848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E11D48"/>
                </a:solidFill>
                <a:latin typeface="Arial"/>
              </a:defRPr>
            </a:pPr>
            <a:r>
              <a:t>Deployment</a:t>
            </a:r>
          </a:p>
          <a:p>
            <a:pPr algn="ctr">
              <a:spcBef>
                <a:spcPts val="300"/>
              </a:spcBef>
              <a:defRPr sz="850" b="1">
                <a:solidFill>
                  <a:srgbClr val="0F172A"/>
                </a:solidFill>
                <a:latin typeface="Calibri"/>
              </a:defRPr>
            </a:pPr>
            <a:r>
              <a:t>Vercel Edge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Working Workflow &amp; Implemented Interfaces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Systematic 6-step project lifecycle paired with production-ready user interfaces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Guidely — E-learning &amp; Collaborative Project Mentorship Platform | SAGE University, Bhopal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Slide 5 of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167335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62456" y="132588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62456" y="134416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1581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057400"/>
            <a:ext cx="1527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75569"/>
                </a:solidFill>
                <a:latin typeface="Calibri"/>
              </a:defRPr>
            </a:pPr>
            <a:r>
              <a:t>Role-based onboarding</a:t>
            </a:r>
            <a:br/>
            <a:r>
              <a:t>• Student / Mentor / Admin</a:t>
            </a:r>
            <a:br/>
            <a:r>
              <a:t>• Google OAuth &amp; JWT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32303" y="1828800"/>
            <a:ext cx="82296" cy="164592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42032" y="1234440"/>
            <a:ext cx="167335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72968" y="132588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2968" y="134416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7752" y="1783080"/>
            <a:ext cx="1581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DISCOVER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5184" y="2057400"/>
            <a:ext cx="1527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75569"/>
                </a:solidFill>
                <a:latin typeface="Calibri"/>
              </a:defRPr>
            </a:pPr>
            <a:r>
              <a:t>Search verified mentors</a:t>
            </a:r>
            <a:br/>
            <a:r>
              <a:t>• Filter by skills &amp; domain</a:t>
            </a:r>
            <a:br/>
            <a:r>
              <a:t>• Experience &amp; rating checks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242816" y="1828800"/>
            <a:ext cx="82296" cy="164592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2544" y="1234440"/>
            <a:ext cx="167335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83480" y="132588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134416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8264" y="1783080"/>
            <a:ext cx="1581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2057400"/>
            <a:ext cx="1527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75569"/>
                </a:solidFill>
                <a:latin typeface="Calibri"/>
              </a:defRPr>
            </a:pPr>
            <a:r>
              <a:t>Project proposal</a:t>
            </a:r>
            <a:br/>
            <a:r>
              <a:t>• Submit goals &amp; scope</a:t>
            </a:r>
            <a:br/>
            <a:r>
              <a:t>• Mentor accepts or rejects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053328" y="1828800"/>
            <a:ext cx="82296" cy="164592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63055" y="1234440"/>
            <a:ext cx="167335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93992" y="132588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93992" y="134416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5" y="1783080"/>
            <a:ext cx="1581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WORKSPACE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7" y="2057400"/>
            <a:ext cx="1527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75569"/>
                </a:solidFill>
                <a:latin typeface="Calibri"/>
              </a:defRPr>
            </a:pPr>
            <a:r>
              <a:t>Workspace provisioning</a:t>
            </a:r>
            <a:br/>
            <a:r>
              <a:t>• Goal &amp; milestone tree</a:t>
            </a:r>
            <a:br/>
            <a:r>
              <a:t>• 4-column Kanban board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63840" y="1828800"/>
            <a:ext cx="82296" cy="164592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73568" y="1234440"/>
            <a:ext cx="167335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04504" y="132588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4504" y="134416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9288" y="1783080"/>
            <a:ext cx="1581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COLLABORATE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2057400"/>
            <a:ext cx="1527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75569"/>
                </a:solidFill>
                <a:latin typeface="Calibri"/>
              </a:defRPr>
            </a:pPr>
            <a:r>
              <a:t>Synchronous guidance</a:t>
            </a:r>
            <a:br/>
            <a:r>
              <a:t>• WebSocket instant chat</a:t>
            </a:r>
            <a:br/>
            <a:r>
              <a:t>• 1-to-1 Jitsi video meets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674352" y="1828800"/>
            <a:ext cx="82296" cy="164592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84080" y="1234440"/>
            <a:ext cx="167335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415016" y="132588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15016" y="134416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1783080"/>
            <a:ext cx="1581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TRACK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7232" y="2057400"/>
            <a:ext cx="1527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75569"/>
                </a:solidFill>
                <a:latin typeface="Calibri"/>
              </a:defRPr>
            </a:pPr>
            <a:r>
              <a:t>Progress evaluation</a:t>
            </a:r>
            <a:br/>
            <a:r>
              <a:t>• Live progress auto-calc</a:t>
            </a:r>
            <a:br/>
            <a:r>
              <a:t>• Reviews &amp; admin audit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27889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12E81"/>
                </a:solidFill>
                <a:latin typeface="Arial"/>
              </a:defRPr>
            </a:pPr>
            <a:r>
              <a:t>IMPLEMENTED INTERFACES (8 Core Production Screens)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315468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31520" y="3154680"/>
            <a:ext cx="2560320" cy="365760"/>
          </a:xfrm>
          <a:prstGeom prst="roundRect">
            <a:avLst/>
          </a:prstGeom>
          <a:solidFill>
            <a:srgbClr val="F0F9FF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3200400"/>
            <a:ext cx="2377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Arial"/>
              </a:defRPr>
            </a:pPr>
            <a:r>
              <a:t>1. Mentor Discovery Hub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3593592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Searchable cards with skill pills, domain filter, verified badge, rating &amp; hourly rate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47287" y="315468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447287" y="3154680"/>
            <a:ext cx="2560320" cy="365760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38727" y="3200400"/>
            <a:ext cx="2377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Arial"/>
              </a:defRPr>
            </a:pPr>
            <a:r>
              <a:t>2. Student 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38727" y="3593592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Active project overview, mentor details, milestone roadmap &amp; quick action shortcuts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63055" y="315468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163055" y="3154680"/>
            <a:ext cx="2560320" cy="365760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54495" y="3200400"/>
            <a:ext cx="2377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12E81"/>
                </a:solidFill>
                <a:latin typeface="Arial"/>
              </a:defRPr>
            </a:pPr>
            <a:r>
              <a:t>3. Mentor Dashboard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54495" y="3593592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Incoming request queue, student roster, session approvals &amp; milestone review panel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78824" y="315468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878824" y="3154680"/>
            <a:ext cx="2560320" cy="36576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70264" y="3200400"/>
            <a:ext cx="2377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Arial"/>
              </a:defRPr>
            </a:pPr>
            <a:r>
              <a:t>4. Project Workspace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70264" y="3593592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Hierarchical goals, milestone roadmap, live % progress bar &amp; 4-column Kanban board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20" y="475488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31520" y="4754880"/>
            <a:ext cx="2560320" cy="365760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4800600"/>
            <a:ext cx="2377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Arial"/>
              </a:defRPr>
            </a:pPr>
            <a:r>
              <a:t>5. Real-Time Chat Hub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5193792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Live dual-pane messaging, unread message badges, WebSocket instant sync &amp; timestamps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47287" y="475488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447287" y="4754880"/>
            <a:ext cx="2560320" cy="36576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38727" y="4800600"/>
            <a:ext cx="2377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"/>
              </a:defRPr>
            </a:pPr>
            <a:r>
              <a:t>6. Session Scheduler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38727" y="5193792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Calendar booking interface, meeting agenda notes, status tracking &amp; Jitsi video launch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63055" y="475488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163055" y="4754880"/>
            <a:ext cx="2560320" cy="365760"/>
          </a:xfrm>
          <a:prstGeom prst="roundRect">
            <a:avLst/>
          </a:prstGeom>
          <a:solidFill>
            <a:srgbClr val="FFF1F2"/>
          </a:solidFill>
          <a:ln w="1016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4495" y="4800600"/>
            <a:ext cx="2377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E11D48"/>
                </a:solidFill>
                <a:latin typeface="Arial"/>
              </a:defRPr>
            </a:pPr>
            <a:r>
              <a:t>7. Admin Telemetry Console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54495" y="5193792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Institutional KPI cards, mentor verification management table &amp; system audit logs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878824" y="475488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878824" y="4754880"/>
            <a:ext cx="2560320" cy="36576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70264" y="4800600"/>
            <a:ext cx="2377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8. Mobile Client App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70264" y="5193792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Cross-platform Expo/React Native responsive container, mobile alerts &amp; portable chat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Implementation &amp; Results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Concrete demonstrated capabilities, verified end-to-end execution flow, and benchmark metrics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Guidely — E-learning &amp; Collaborative Project Mentorship Platform | SAGE University, Bhopal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Slide 6 of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10728655" cy="5029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298448"/>
            <a:ext cx="10545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312E81"/>
                </a:solidFill>
                <a:latin typeface="Arial"/>
              </a:defRPr>
            </a:pPr>
            <a:r>
              <a:t>Validated End-to-End Flow:   Registration ➔ Mentor Discovery ➔ Proposal Request ➔ Mentor Acceptance ➔ Workspace Provisioning ➔ Real-Time Collaboration ➔ Progress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74519"/>
            <a:ext cx="63093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12E81"/>
                </a:solidFill>
                <a:latin typeface="Arial"/>
              </a:defRPr>
            </a:pPr>
            <a:r>
              <a:t>DEMONSTRATED SYSTEM CAPABILITIES (12 Core Modules)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5943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✔  </a:t>
            </a:r>
            <a:r>
              <a:rPr sz="950" b="1">
                <a:solidFill>
                  <a:srgbClr val="0F172A"/>
                </a:solidFill>
                <a:latin typeface="Arial"/>
              </a:rPr>
              <a:t>Role-Based Access Control: </a:t>
            </a:r>
            <a:r>
              <a:rPr sz="850">
                <a:solidFill>
                  <a:srgbClr val="475569"/>
                </a:solidFill>
                <a:latin typeface="Calibri"/>
              </a:rPr>
              <a:t>Enforced Student, Mentor &amp; Admin privilege boundaries with JWT &amp; Google OAuth 2.0.</a:t>
            </a:r>
          </a:p>
          <a:p>
            <a:pPr>
              <a:spcBef>
                <a:spcPts val="250"/>
              </a:spcBef>
            </a:pPr>
            <a:r>
              <a:rPr b="1" sz="1000">
                <a:solidFill>
                  <a:srgbClr val="10B981"/>
                </a:solidFill>
              </a:rPr>
              <a:t>✔  </a:t>
            </a:r>
            <a:r>
              <a:rPr sz="950" b="1">
                <a:solidFill>
                  <a:srgbClr val="0F172A"/>
                </a:solidFill>
                <a:latin typeface="Arial"/>
              </a:rPr>
              <a:t>Mentor Discovery &amp; Search: </a:t>
            </a:r>
            <a:r>
              <a:rPr sz="850">
                <a:solidFill>
                  <a:srgbClr val="475569"/>
                </a:solidFill>
                <a:latin typeface="Calibri"/>
              </a:rPr>
              <a:t>Dynamic multi-criteria search by skills, domain, experience, hourly rate &amp; ratings.</a:t>
            </a:r>
          </a:p>
          <a:p>
            <a:pPr>
              <a:spcBef>
                <a:spcPts val="250"/>
              </a:spcBef>
            </a:pPr>
            <a:r>
              <a:rPr b="1" sz="1000">
                <a:solidFill>
                  <a:srgbClr val="10B981"/>
                </a:solidFill>
              </a:rPr>
              <a:t>✔  </a:t>
            </a:r>
            <a:r>
              <a:rPr sz="950" b="1">
                <a:solidFill>
                  <a:srgbClr val="0F172A"/>
                </a:solidFill>
                <a:latin typeface="Arial"/>
              </a:rPr>
              <a:t>Formal Proposal Pipeline: </a:t>
            </a:r>
            <a:r>
              <a:rPr sz="850">
                <a:solidFill>
                  <a:srgbClr val="475569"/>
                </a:solidFill>
                <a:latin typeface="Calibri"/>
              </a:rPr>
              <a:t>End-to-end proposal workflow: submission, review, acceptance, rejection, and notification.</a:t>
            </a:r>
          </a:p>
          <a:p>
            <a:pPr>
              <a:spcBef>
                <a:spcPts val="250"/>
              </a:spcBef>
            </a:pPr>
            <a:r>
              <a:rPr b="1" sz="1000">
                <a:solidFill>
                  <a:srgbClr val="10B981"/>
                </a:solidFill>
              </a:rPr>
              <a:t>✔  </a:t>
            </a:r>
            <a:r>
              <a:rPr sz="950" b="1">
                <a:solidFill>
                  <a:srgbClr val="0F172A"/>
                </a:solidFill>
                <a:latin typeface="Arial"/>
              </a:rPr>
              <a:t>Project Workspace &amp; Milestones: </a:t>
            </a:r>
            <a:r>
              <a:rPr sz="850">
                <a:solidFill>
                  <a:srgbClr val="475569"/>
                </a:solidFill>
                <a:latin typeface="Calibri"/>
              </a:rPr>
              <a:t>Chronological milestone roadmap with goals, dependencies, and auto-calculated completion %.</a:t>
            </a:r>
          </a:p>
          <a:p>
            <a:pPr>
              <a:spcBef>
                <a:spcPts val="250"/>
              </a:spcBef>
            </a:pPr>
            <a:r>
              <a:rPr b="1" sz="1000">
                <a:solidFill>
                  <a:srgbClr val="10B981"/>
                </a:solidFill>
              </a:rPr>
              <a:t>✔  </a:t>
            </a:r>
            <a:r>
              <a:rPr sz="950" b="1">
                <a:solidFill>
                  <a:srgbClr val="0F172A"/>
                </a:solidFill>
                <a:latin typeface="Arial"/>
              </a:rPr>
              <a:t>Interactive Kanban Board: </a:t>
            </a:r>
            <a:r>
              <a:rPr sz="850">
                <a:solidFill>
                  <a:srgbClr val="475569"/>
                </a:solidFill>
                <a:latin typeface="Calibri"/>
              </a:rPr>
              <a:t>4-column task tracking (TODO, IN PROGRESS, IN REVIEW, DONE) with live state updates.</a:t>
            </a:r>
          </a:p>
          <a:p>
            <a:pPr>
              <a:spcBef>
                <a:spcPts val="250"/>
              </a:spcBef>
            </a:pPr>
            <a:r>
              <a:rPr b="1" sz="1000">
                <a:solidFill>
                  <a:srgbClr val="10B981"/>
                </a:solidFill>
              </a:rPr>
              <a:t>✔  </a:t>
            </a:r>
            <a:r>
              <a:rPr sz="950" b="1">
                <a:solidFill>
                  <a:srgbClr val="0F172A"/>
                </a:solidFill>
                <a:latin typeface="Arial"/>
              </a:rPr>
              <a:t>WebSocket Real-Time Chat: </a:t>
            </a:r>
            <a:r>
              <a:rPr sz="850">
                <a:solidFill>
                  <a:srgbClr val="475569"/>
                </a:solidFill>
                <a:latin typeface="Calibri"/>
              </a:rPr>
              <a:t>Persistent bidirectional messaging engine with active conversation threads and unread counts.</a:t>
            </a:r>
          </a:p>
          <a:p>
            <a:pPr>
              <a:spcBef>
                <a:spcPts val="250"/>
              </a:spcBef>
            </a:pPr>
            <a:r>
              <a:rPr b="1" sz="1000">
                <a:solidFill>
                  <a:srgbClr val="10B981"/>
                </a:solidFill>
              </a:rPr>
              <a:t>✔  </a:t>
            </a:r>
            <a:r>
              <a:rPr sz="950" b="1">
                <a:solidFill>
                  <a:srgbClr val="0F172A"/>
                </a:solidFill>
                <a:latin typeface="Arial"/>
              </a:rPr>
              <a:t>1-to-1 Video Mentorship: </a:t>
            </a:r>
            <a:r>
              <a:rPr sz="850">
                <a:solidFill>
                  <a:srgbClr val="475569"/>
                </a:solidFill>
                <a:latin typeface="Calibri"/>
              </a:rPr>
              <a:t>In-platform Jitsi Meet WebRTC video consultation rooms with session booking calendar.</a:t>
            </a:r>
          </a:p>
          <a:p>
            <a:pPr>
              <a:spcBef>
                <a:spcPts val="250"/>
              </a:spcBef>
            </a:pPr>
            <a:r>
              <a:rPr b="1" sz="1000">
                <a:solidFill>
                  <a:srgbClr val="10B981"/>
                </a:solidFill>
              </a:rPr>
              <a:t>✔  </a:t>
            </a:r>
            <a:r>
              <a:rPr sz="950" b="1">
                <a:solidFill>
                  <a:srgbClr val="0F172A"/>
                </a:solidFill>
                <a:latin typeface="Arial"/>
              </a:rPr>
              <a:t>Institutional Governance: </a:t>
            </a:r>
            <a:r>
              <a:rPr sz="850">
                <a:solidFill>
                  <a:srgbClr val="475569"/>
                </a:solidFill>
                <a:latin typeface="Calibri"/>
              </a:rPr>
              <a:t>Administrative mentor verification portal, user status management, and audit logs.</a:t>
            </a:r>
          </a:p>
          <a:p>
            <a:pPr>
              <a:spcBef>
                <a:spcPts val="250"/>
              </a:spcBef>
            </a:pPr>
            <a:r>
              <a:rPr b="1" sz="1000">
                <a:solidFill>
                  <a:srgbClr val="10B981"/>
                </a:solidFill>
              </a:rPr>
              <a:t>✔  </a:t>
            </a:r>
            <a:r>
              <a:rPr sz="950" b="1">
                <a:solidFill>
                  <a:srgbClr val="0F172A"/>
                </a:solidFill>
                <a:latin typeface="Arial"/>
              </a:rPr>
              <a:t>Responsive Web Architecture: </a:t>
            </a:r>
            <a:r>
              <a:rPr sz="850">
                <a:solidFill>
                  <a:srgbClr val="475569"/>
                </a:solidFill>
                <a:latin typeface="Calibri"/>
              </a:rPr>
              <a:t>Cross-browser modern UI engineered with React 19, TypeScript, Vite, and Tailwind CSS.</a:t>
            </a:r>
          </a:p>
          <a:p>
            <a:pPr>
              <a:spcBef>
                <a:spcPts val="250"/>
              </a:spcBef>
            </a:pPr>
            <a:r>
              <a:rPr b="1" sz="1000">
                <a:solidFill>
                  <a:srgbClr val="10B981"/>
                </a:solidFill>
              </a:rPr>
              <a:t>✔  </a:t>
            </a:r>
            <a:r>
              <a:rPr sz="950" b="1">
                <a:solidFill>
                  <a:srgbClr val="0F172A"/>
                </a:solidFill>
                <a:latin typeface="Arial"/>
              </a:rPr>
              <a:t>Cross-Platform Mobile Client: </a:t>
            </a:r>
            <a:r>
              <a:rPr sz="850">
                <a:solidFill>
                  <a:srgbClr val="475569"/>
                </a:solidFill>
                <a:latin typeface="Calibri"/>
              </a:rPr>
              <a:t>Native Android/iOS container built with Expo and React Native for on-the-go tracking.</a:t>
            </a:r>
          </a:p>
          <a:p>
            <a:pPr>
              <a:spcBef>
                <a:spcPts val="250"/>
              </a:spcBef>
            </a:pPr>
            <a:r>
              <a:rPr b="1" sz="1000">
                <a:solidFill>
                  <a:srgbClr val="10B981"/>
                </a:solidFill>
              </a:rPr>
              <a:t>✔  </a:t>
            </a:r>
            <a:r>
              <a:rPr sz="950" b="1">
                <a:solidFill>
                  <a:srgbClr val="0F172A"/>
                </a:solidFill>
                <a:latin typeface="Arial"/>
              </a:rPr>
              <a:t>Cloud Media Handling: </a:t>
            </a:r>
            <a:r>
              <a:rPr sz="850">
                <a:solidFill>
                  <a:srgbClr val="475569"/>
                </a:solidFill>
                <a:latin typeface="Calibri"/>
              </a:rPr>
              <a:t>Cloudinary cloud integration for secure profile photos, documents, and CDN assets.</a:t>
            </a:r>
          </a:p>
          <a:p>
            <a:pPr>
              <a:spcBef>
                <a:spcPts val="250"/>
              </a:spcBef>
            </a:pPr>
            <a:r>
              <a:rPr b="1" sz="1000">
                <a:solidFill>
                  <a:srgbClr val="10B981"/>
                </a:solidFill>
              </a:rPr>
              <a:t>✔  </a:t>
            </a:r>
            <a:r>
              <a:rPr sz="950" b="1">
                <a:solidFill>
                  <a:srgbClr val="0F172A"/>
                </a:solidFill>
                <a:latin typeface="Arial"/>
              </a:rPr>
              <a:t>Hardened Security &amp; Logging: </a:t>
            </a:r>
            <a:r>
              <a:rPr sz="850">
                <a:solidFill>
                  <a:srgbClr val="475569"/>
                </a:solidFill>
                <a:latin typeface="Calibri"/>
              </a:rPr>
              <a:t>Zod boundary validation, Helmet HTTP protection, express rate limiting, and Pino logs.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874519"/>
            <a:ext cx="423641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965960"/>
            <a:ext cx="3870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Arial"/>
              </a:defRPr>
            </a:pPr>
            <a:r>
              <a:t>QUANTITATIVE BENCHMARKS &amp;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331720"/>
            <a:ext cx="3870655" cy="8412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386584"/>
            <a:ext cx="36877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Arial"/>
              </a:rPr>
              <a:t>100% Pass Rate</a:t>
            </a:r>
            <a:r>
              <a:rPr sz="950" b="1">
                <a:solidFill>
                  <a:srgbClr val="0F172A"/>
                </a:solidFill>
                <a:latin typeface="Arial"/>
              </a:rPr>
              <a:t>  —  Automated Domain Test Harness</a:t>
            </a:r>
          </a:p>
          <a:p>
            <a:pPr>
              <a:spcBef>
                <a:spcPts val="2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All 7 domain test suites passed in run-tests.ts (Auth, Match, Requests, Workspace, Video, Reviews, Admin)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246120"/>
            <a:ext cx="3870655" cy="8412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3300984"/>
            <a:ext cx="36877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Arial"/>
              </a:rPr>
              <a:t>&lt; 18 ms Latency</a:t>
            </a:r>
            <a:r>
              <a:rPr sz="950" b="1">
                <a:solidFill>
                  <a:srgbClr val="0F172A"/>
                </a:solidFill>
                <a:latin typeface="Arial"/>
              </a:rPr>
              <a:t>  —  WebSocket Message Delivery</a:t>
            </a:r>
          </a:p>
          <a:p>
            <a:pPr>
              <a:spcBef>
                <a:spcPts val="2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Sub-second bidirectional delivery under concurrent client load with zero message loss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4160520"/>
            <a:ext cx="3870655" cy="84124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4215383"/>
            <a:ext cx="36877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EA5E9"/>
                </a:solidFill>
                <a:latin typeface="Arial"/>
              </a:rPr>
              <a:t>34 ms Latency</a:t>
            </a:r>
            <a:r>
              <a:rPr sz="950" b="1">
                <a:solidFill>
                  <a:srgbClr val="0F172A"/>
                </a:solidFill>
                <a:latin typeface="Arial"/>
              </a:rPr>
              <a:t>  —  Average REST API Response</a:t>
            </a:r>
          </a:p>
          <a:p>
            <a:pPr>
              <a:spcBef>
                <a:spcPts val="2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High-throughput Express handlers with optimized serialization and async controller execution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5074920"/>
            <a:ext cx="3870655" cy="8412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5129783"/>
            <a:ext cx="36877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Arial"/>
              </a:rPr>
              <a:t>&lt; 12 ms Exec Time</a:t>
            </a:r>
            <a:r>
              <a:rPr sz="950" b="1">
                <a:solidFill>
                  <a:srgbClr val="0F172A"/>
                </a:solidFill>
                <a:latin typeface="Arial"/>
              </a:rPr>
              <a:t>  —  Indexed SQLite Query Speed</a:t>
            </a:r>
          </a:p>
          <a:p>
            <a:pPr>
              <a:spcBef>
                <a:spcPts val="2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High-performance relational queries across 11 normalized tables with foreign key constraints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5715000"/>
            <a:ext cx="3870655" cy="4572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5742432"/>
            <a:ext cx="3687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312E81"/>
                </a:solidFill>
                <a:latin typeface="Calibri"/>
              </a:defRPr>
            </a:pPr>
            <a:r>
              <a:t>⭐ Result: Successfully replaced 4 disconnected tools with one unified, verified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Conclusion &amp; Future Scope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Summary of project contributions and roadmap for next-generation intelligence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Guidely — E-learning &amp; Collaborative Project Mentorship Platform | SAGE University, Bhopal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51052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Slide 7 of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10728655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2588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12E81"/>
                </a:solidFill>
                <a:latin typeface="Arial"/>
              </a:defRPr>
            </a:pPr>
            <a:r>
              <a:t>PROJECT CONCLUSION &amp; ACADEMIC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64592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Arial"/>
              </a:rPr>
              <a:t>•  Unified Collaboration Ecosystem: </a:t>
            </a:r>
            <a:r>
              <a:rPr sz="900">
                <a:solidFill>
                  <a:srgbClr val="475569"/>
                </a:solidFill>
                <a:latin typeface="Calibri"/>
              </a:rPr>
              <a:t>Guidely bridges the critical gap in engineering education by bringing mentor discovery, mentorship proposals, structured project management, real-time messaging, and video meetings into one single unified platform.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•  Elimination of Tool Fragmentation: </a:t>
            </a:r>
            <a:r>
              <a:rPr sz="900">
                <a:solidFill>
                  <a:srgbClr val="475569"/>
                </a:solidFill>
                <a:latin typeface="Calibri"/>
              </a:rPr>
              <a:t>Replaces the chaotic mix of WhatsApp, Zoom, Trello, and email with a cohesive system that preserves all project context, communication threads, and milestone audit histories in one place.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•  Enhanced Visibility &amp; Engineering Rigor: </a:t>
            </a:r>
            <a:r>
              <a:rPr sz="900">
                <a:solidFill>
                  <a:srgbClr val="475569"/>
                </a:solidFill>
                <a:latin typeface="Calibri"/>
              </a:rPr>
              <a:t>Gives faculty mentors continuous visibility into student task completion velocity and blockers, while empowering students with structured Kanban roadmaps, type-safe APIs, and verified sub-second collaboration.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12E81"/>
                </a:solidFill>
                <a:latin typeface="Arial"/>
              </a:defRPr>
            </a:pPr>
            <a:r>
              <a:t>FUTURE SCOPE &amp; ENHANCEMENTS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64992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364992"/>
            <a:ext cx="3456432" cy="292608"/>
          </a:xfrm>
          <a:prstGeom prst="roundRect">
            <a:avLst/>
          </a:prstGeom>
          <a:solidFill>
            <a:srgbClr val="F0F9FF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01568"/>
            <a:ext cx="327355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Arial"/>
              </a:defRPr>
            </a:pPr>
            <a:r>
              <a:t>AI-Based Mentor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94176"/>
            <a:ext cx="327355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819">
                <a:solidFill>
                  <a:srgbClr val="475569"/>
                </a:solidFill>
                <a:latin typeface="Calibri"/>
              </a:defRPr>
            </a:pPr>
            <a:r>
              <a:t>Semantic vector embeddings (Gemini/OpenAI) to match student project problem statements with mentor research papers &amp; domain expertise.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3364992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61688" y="3364992"/>
            <a:ext cx="3456432" cy="292608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7" y="3401568"/>
            <a:ext cx="327355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Arial"/>
              </a:defRPr>
            </a:pPr>
            <a:r>
              <a:t>Intelligent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3694176"/>
            <a:ext cx="327355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819">
                <a:solidFill>
                  <a:srgbClr val="475569"/>
                </a:solidFill>
                <a:latin typeface="Calibri"/>
              </a:defRPr>
            </a:pPr>
            <a:r>
              <a:t>Automated system suggesting tech stacks, architectural design patterns, and milestone starter templates based on project domains.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3364992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91856" y="3364992"/>
            <a:ext cx="3456432" cy="29260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3401568"/>
            <a:ext cx="327355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Arial"/>
              </a:defRPr>
            </a:pPr>
            <a:r>
              <a:t>Automated Progress Summaries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694176"/>
            <a:ext cx="327355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819">
                <a:solidFill>
                  <a:srgbClr val="475569"/>
                </a:solidFill>
                <a:latin typeface="Calibri"/>
              </a:defRPr>
            </a:pPr>
            <a:r>
              <a:t>AI-generated weekly project health digests, velocity calculations, and proactive alerts to mentors for delayed milestones.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61772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4617720"/>
            <a:ext cx="3456432" cy="292608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654296"/>
            <a:ext cx="327355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Arial"/>
              </a:defRPr>
            </a:pPr>
            <a:r>
              <a:t>Mobile Push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946904"/>
            <a:ext cx="327355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819">
                <a:solidFill>
                  <a:srgbClr val="475569"/>
                </a:solidFill>
                <a:latin typeface="Calibri"/>
              </a:defRPr>
            </a:pPr>
            <a:r>
              <a:t>Integration with Firebase Cloud Messaging (FCM) for instant push alerts on session bookings, proposal reviews, and chat messages.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61688" y="461772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61688" y="4617720"/>
            <a:ext cx="3456432" cy="292608"/>
          </a:xfrm>
          <a:prstGeom prst="roundRect">
            <a:avLst/>
          </a:prstGeom>
          <a:solidFill>
            <a:srgbClr val="FFF1F2"/>
          </a:solidFill>
          <a:ln w="1016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3127" y="4654296"/>
            <a:ext cx="327355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E11D48"/>
                </a:solidFill>
                <a:latin typeface="Arial"/>
              </a:defRPr>
            </a:pPr>
            <a:r>
              <a:t>Code Review &amp; Plagiarism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7" y="4946904"/>
            <a:ext cx="327355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819">
                <a:solidFill>
                  <a:srgbClr val="475569"/>
                </a:solidFill>
                <a:latin typeface="Calibri"/>
              </a:defRPr>
            </a:pPr>
            <a:r>
              <a:t>Direct GitHub/GitLab webhook integration for automated commit analysis, automated code quality grading, and similarity checks.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4617720"/>
            <a:ext cx="34564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991856" y="4617720"/>
            <a:ext cx="3456432" cy="292608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83296" y="4654296"/>
            <a:ext cx="327355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12E81"/>
                </a:solidFill>
                <a:latin typeface="Arial"/>
              </a:defRPr>
            </a:pPr>
            <a:r>
              <a:t>Advanced Project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4946904"/>
            <a:ext cx="327355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819">
                <a:solidFill>
                  <a:srgbClr val="475569"/>
                </a:solidFill>
                <a:latin typeface="Calibri"/>
              </a:defRPr>
            </a:pPr>
            <a:r>
              <a:t>Institutional telemetry dashboards for university heads to track department-wide completion rates, mentor load, and student velocity.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806440"/>
            <a:ext cx="10728655" cy="530352"/>
          </a:xfrm>
          <a:prstGeom prst="roundRect">
            <a:avLst/>
          </a:prstGeom>
          <a:solidFill>
            <a:srgbClr val="4F46E5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870448"/>
            <a:ext cx="105457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“ GUIDELY — From Finding a Mentor to Completing the Project. 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